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5" r:id="rId3"/>
    <p:sldId id="259" r:id="rId4"/>
    <p:sldId id="260" r:id="rId5"/>
    <p:sldId id="261" r:id="rId6"/>
    <p:sldId id="266" r:id="rId7"/>
    <p:sldId id="262" r:id="rId8"/>
    <p:sldId id="267" r:id="rId9"/>
    <p:sldId id="268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94660"/>
  </p:normalViewPr>
  <p:slideViewPr>
    <p:cSldViewPr snapToGrid="0">
      <p:cViewPr varScale="1">
        <p:scale>
          <a:sx n="81" d="100"/>
          <a:sy n="81" d="100"/>
        </p:scale>
        <p:origin x="64" y="16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urdue Logo" descr="Purdue Logo">
            <a:extLst>
              <a:ext uri="{FF2B5EF4-FFF2-40B4-BE49-F238E27FC236}">
                <a16:creationId xmlns:a16="http://schemas.microsoft.com/office/drawing/2014/main" id="{121060AA-930A-4F8F-D7F6-9CFE824946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077" y="5756157"/>
            <a:ext cx="2709200" cy="484939"/>
          </a:xfrm>
          <a:prstGeom prst="rect">
            <a:avLst/>
          </a:prstGeom>
        </p:spPr>
      </p:pic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6800" y="0"/>
            <a:ext cx="2235200" cy="6858000"/>
          </a:xfrm>
          <a:prstGeom prst="rect">
            <a:avLst/>
          </a:prstGeom>
          <a:noFill/>
        </p:spPr>
      </p:pic>
      <p:sp>
        <p:nvSpPr>
          <p:cNvPr id="6" name="Triangle 5">
            <a:extLst>
              <a:ext uri="{FF2B5EF4-FFF2-40B4-BE49-F238E27FC236}">
                <a16:creationId xmlns:a16="http://schemas.microsoft.com/office/drawing/2014/main" id="{47BD40D6-A6F9-8B8C-560F-0C7A97097E8F}"/>
              </a:ext>
            </a:extLst>
          </p:cNvPr>
          <p:cNvSpPr/>
          <p:nvPr/>
        </p:nvSpPr>
        <p:spPr>
          <a:xfrm>
            <a:off x="9954706" y="-9439"/>
            <a:ext cx="2246721" cy="6867440"/>
          </a:xfrm>
          <a:custGeom>
            <a:avLst/>
            <a:gdLst>
              <a:gd name="connsiteX0" fmla="*/ 0 w 2243579"/>
              <a:gd name="connsiteY0" fmla="*/ 0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0 w 2243579"/>
              <a:gd name="connsiteY4" fmla="*/ 0 h 6881568"/>
              <a:gd name="connsiteX0" fmla="*/ 1300899 w 2243579"/>
              <a:gd name="connsiteY0" fmla="*/ 565608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300899 w 2243579"/>
              <a:gd name="connsiteY4" fmla="*/ 565608 h 6881568"/>
              <a:gd name="connsiteX0" fmla="*/ 1602557 w 2243579"/>
              <a:gd name="connsiteY0" fmla="*/ 18854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602557 w 2243579"/>
              <a:gd name="connsiteY4" fmla="*/ 18854 h 6881568"/>
              <a:gd name="connsiteX0" fmla="*/ 1319753 w 1960775"/>
              <a:gd name="connsiteY0" fmla="*/ 18854 h 6881568"/>
              <a:gd name="connsiteX1" fmla="*/ 1960775 w 1960775"/>
              <a:gd name="connsiteY1" fmla="*/ 0 h 6881568"/>
              <a:gd name="connsiteX2" fmla="*/ 1960775 w 1960775"/>
              <a:gd name="connsiteY2" fmla="*/ 6881568 h 6881568"/>
              <a:gd name="connsiteX3" fmla="*/ 0 w 1960775"/>
              <a:gd name="connsiteY3" fmla="*/ 6806154 h 6881568"/>
              <a:gd name="connsiteX4" fmla="*/ 1319753 w 1960775"/>
              <a:gd name="connsiteY4" fmla="*/ 18854 h 6881568"/>
              <a:gd name="connsiteX0" fmla="*/ 1593130 w 2234152"/>
              <a:gd name="connsiteY0" fmla="*/ 18854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93130 w 2234152"/>
              <a:gd name="connsiteY4" fmla="*/ 18854 h 6881569"/>
              <a:gd name="connsiteX0" fmla="*/ 1583717 w 2234152"/>
              <a:gd name="connsiteY0" fmla="*/ 9420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83717 w 2234152"/>
              <a:gd name="connsiteY4" fmla="*/ 9420 h 6881569"/>
              <a:gd name="connsiteX0" fmla="*/ 1583717 w 2243566"/>
              <a:gd name="connsiteY0" fmla="*/ 0 h 6872149"/>
              <a:gd name="connsiteX1" fmla="*/ 2243566 w 2243566"/>
              <a:gd name="connsiteY1" fmla="*/ 12 h 6872149"/>
              <a:gd name="connsiteX2" fmla="*/ 2234152 w 2243566"/>
              <a:gd name="connsiteY2" fmla="*/ 6872148 h 6872149"/>
              <a:gd name="connsiteX3" fmla="*/ 0 w 2243566"/>
              <a:gd name="connsiteY3" fmla="*/ 6872149 h 6872149"/>
              <a:gd name="connsiteX4" fmla="*/ 1583717 w 2243566"/>
              <a:gd name="connsiteY4" fmla="*/ 0 h 6872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3566" h="6872149">
                <a:moveTo>
                  <a:pt x="1583717" y="0"/>
                </a:moveTo>
                <a:lnTo>
                  <a:pt x="2243566" y="12"/>
                </a:lnTo>
                <a:lnTo>
                  <a:pt x="2234152" y="6872148"/>
                </a:lnTo>
                <a:lnTo>
                  <a:pt x="0" y="6872149"/>
                </a:lnTo>
                <a:lnTo>
                  <a:pt x="1583717" y="0"/>
                </a:lnTo>
                <a:close/>
              </a:path>
            </a:pathLst>
          </a:custGeom>
          <a:solidFill>
            <a:srgbClr val="CFB9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1870E27-202E-F717-3FB6-D69451DF1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3257" y="2005070"/>
            <a:ext cx="7763458" cy="592834"/>
          </a:xfrm>
        </p:spPr>
        <p:txBody>
          <a:bodyPr>
            <a:noAutofit/>
          </a:bodyPr>
          <a:lstStyle>
            <a:lvl1pPr>
              <a:defRPr sz="5400" cap="none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E966E-ACAB-E285-70D0-66AC08DF13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23257" y="2629338"/>
            <a:ext cx="7763458" cy="44926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400" b="1" i="0">
                <a:solidFill>
                  <a:schemeClr val="bg2"/>
                </a:solidFill>
                <a:latin typeface="Acumin Pro Semibold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76FFA1BC-72F9-9048-3E39-D300A3A6A5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23257" y="3107129"/>
            <a:ext cx="7763458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>
                <a:solidFill>
                  <a:schemeClr val="bg2"/>
                </a:solidFill>
                <a:latin typeface="Acumin Pro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fld id="{C7124C19-F609-8C4C-8116-78E353E3E672}" type="datetime1">
              <a:rPr lang="en-US" smtClean="0"/>
              <a:t>3/29/23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EC3163-7E89-C90A-4497-846BA4987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A3B5A-934C-4564-B9F9-D88CB5D607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8332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6800" y="0"/>
            <a:ext cx="2235200" cy="6858000"/>
          </a:xfrm>
          <a:prstGeom prst="rect">
            <a:avLst/>
          </a:prstGeom>
          <a:noFill/>
        </p:spPr>
      </p:pic>
      <p:pic>
        <p:nvPicPr>
          <p:cNvPr id="4" name="Purdue Logo" descr="Purdue Logo">
            <a:extLst>
              <a:ext uri="{FF2B5EF4-FFF2-40B4-BE49-F238E27FC236}">
                <a16:creationId xmlns:a16="http://schemas.microsoft.com/office/drawing/2014/main" id="{BA4B2908-555F-78CD-D5EA-D087520FF3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143" y="5756156"/>
            <a:ext cx="2709200" cy="484940"/>
          </a:xfrm>
          <a:prstGeom prst="rect">
            <a:avLst/>
          </a:prstGeom>
        </p:spPr>
      </p:pic>
      <p:sp>
        <p:nvSpPr>
          <p:cNvPr id="6" name="Title 6">
            <a:extLst>
              <a:ext uri="{FF2B5EF4-FFF2-40B4-BE49-F238E27FC236}">
                <a16:creationId xmlns:a16="http://schemas.microsoft.com/office/drawing/2014/main" id="{B1EEEEC0-D7E4-4DE5-4E3D-FAAD9ABA89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3257" y="1812045"/>
            <a:ext cx="7763458" cy="719757"/>
          </a:xfrm>
        </p:spPr>
        <p:txBody>
          <a:bodyPr>
            <a:noAutofit/>
          </a:bodyPr>
          <a:lstStyle>
            <a:lvl1pPr>
              <a:defRPr sz="540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EDB9B8-C811-84E9-5F58-0130F3A805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23257" y="2617146"/>
            <a:ext cx="7763458" cy="44926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400" b="1" i="0">
                <a:solidFill>
                  <a:schemeClr val="tx1"/>
                </a:solidFill>
                <a:latin typeface="Acumin Pro Semibold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24BF34A7-30DF-7BD2-A5A2-434BBF6672C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23257" y="3148847"/>
            <a:ext cx="7763458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3/31/23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DC8F108-1702-5F20-3D95-B2102374C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A3B5A-934C-4564-B9F9-D88CB5D607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6024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34176D92-8FAB-782E-E607-5D0C5CC9C2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FDAFB6-8BB6-ADBB-6574-5B0C25E7B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972" y="4671391"/>
            <a:ext cx="11266714" cy="1401419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5FF931D0-D7E7-D9E1-3CCC-83299A0922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8972" y="6085510"/>
            <a:ext cx="11266714" cy="449263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2000" b="1" i="0">
                <a:solidFill>
                  <a:schemeClr val="tx1"/>
                </a:solidFill>
                <a:latin typeface="Acumin Pro Semibold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9062453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9525"/>
            <a:ext cx="12192000" cy="6867525"/>
          </a:xfrm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EFC2CE8-E7A7-5DA8-903C-7C61B21A6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A3B5A-934C-4564-B9F9-D88CB5D607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643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9" y="1543324"/>
            <a:ext cx="11266713" cy="4454706"/>
          </a:xfrm>
        </p:spPr>
        <p:txBody>
          <a:bodyPr numCol="1">
            <a:noAutofit/>
          </a:bodyPr>
          <a:lstStyle>
            <a:lvl1pPr marL="0" indent="0" algn="l" fontAlgn="t">
              <a:buFontTx/>
              <a:buNone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4" name="Purdue Logo" descr="Purdue Logo">
            <a:extLst>
              <a:ext uri="{FF2B5EF4-FFF2-40B4-BE49-F238E27FC236}">
                <a16:creationId xmlns:a16="http://schemas.microsoft.com/office/drawing/2014/main" id="{D337403E-4A63-3B42-FC84-47BAEDD7A7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4ECEF9E-3A6E-C6FF-42DA-EDF0D1D98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A3B5A-934C-4564-B9F9-D88CB5D607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23016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Copy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9" y="1543324"/>
            <a:ext cx="11266713" cy="4454706"/>
          </a:xfrm>
        </p:spPr>
        <p:txBody>
          <a:bodyPr numCol="2">
            <a:noAutofit/>
          </a:bodyPr>
          <a:lstStyle>
            <a:lvl1pPr marL="0" indent="0" algn="l" fontAlgn="t">
              <a:buFontTx/>
              <a:buNone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4" name="Purdue Logo" descr="Purdue Logo">
            <a:extLst>
              <a:ext uri="{FF2B5EF4-FFF2-40B4-BE49-F238E27FC236}">
                <a16:creationId xmlns:a16="http://schemas.microsoft.com/office/drawing/2014/main" id="{D337403E-4A63-3B42-FC84-47BAEDD7A7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A85743F-DCAE-A9EE-5293-03DFB306B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A3B5A-934C-4564-B9F9-D88CB5D607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7483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628D381-488B-4C1C-32F0-1D389C1FF7E3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8086" y="1543324"/>
            <a:ext cx="11266714" cy="445470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3" name="Purdue Logo" descr="Purdue Logo">
            <a:extLst>
              <a:ext uri="{FF2B5EF4-FFF2-40B4-BE49-F238E27FC236}">
                <a16:creationId xmlns:a16="http://schemas.microsoft.com/office/drawing/2014/main" id="{57E46A32-0E35-7B3E-4B6F-A7D50B076D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5EE0A7E-143D-2A83-397F-55801DA06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65EE62C3-A7DA-7701-DE4B-C1A290C4FAE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C54E73-61A3-FF0B-7F4C-17B1D97376A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88A3B5A-934C-4564-B9F9-D88CB5D607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001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Content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9742D-9D8E-3928-8B2A-C7202DA72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D59E3ED-7921-E7F3-A0A2-0467597EF7E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68086" y="1543324"/>
            <a:ext cx="5413169" cy="4390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F449F3F-4187-E891-E28D-ABAA4011813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309157" y="1543324"/>
            <a:ext cx="5425643" cy="4390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2" name="Purdue Logo" descr="Purdue Logo">
            <a:extLst>
              <a:ext uri="{FF2B5EF4-FFF2-40B4-BE49-F238E27FC236}">
                <a16:creationId xmlns:a16="http://schemas.microsoft.com/office/drawing/2014/main" id="{1187A0AE-82DF-15CC-71EB-814F9338E8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FC4CE19-DA95-2729-993D-BB0D45B6B56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59EA93-442C-59A0-2250-A5181989CDD4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88A3B5A-934C-4564-B9F9-D88CB5D607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2249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Content -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9742D-9D8E-3928-8B2A-C7202DA72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D59E3ED-7921-E7F3-A0A2-0467597EF7E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68087" y="1543324"/>
            <a:ext cx="3507565" cy="4390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3" name="Purdue Logo" descr="Purdue Logo">
            <a:extLst>
              <a:ext uri="{FF2B5EF4-FFF2-40B4-BE49-F238E27FC236}">
                <a16:creationId xmlns:a16="http://schemas.microsoft.com/office/drawing/2014/main" id="{D9D56DBC-682D-9000-C377-A3E36338D7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6D77F14-E88B-D0A5-6F63-E4DA45A7CD6B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342217" y="1543323"/>
            <a:ext cx="3507565" cy="439033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A95E987-1BAB-5DE6-3A52-75935C62985E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8243137" y="1543322"/>
            <a:ext cx="3507565" cy="439033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CA31FF2-2F1A-7D0F-36B0-1773F6A9AB3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77EB8B-3A4C-F880-133B-94D59A7B36B8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C88A3B5A-934C-4564-B9F9-D88CB5D607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8817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with Copy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6313" y="3652272"/>
            <a:ext cx="5469743" cy="2345757"/>
          </a:xfrm>
        </p:spPr>
        <p:txBody>
          <a:bodyPr numCol="1">
            <a:noAutofit/>
          </a:bodyPr>
          <a:lstStyle>
            <a:lvl1pPr marL="285750" indent="-285750" algn="l" fontAlgn="t">
              <a:buFont typeface="Wingdings" pitchFamily="2" charset="2"/>
              <a:buChar char="§"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4" name="Purdue Logo" descr="Purdue Logo">
            <a:extLst>
              <a:ext uri="{FF2B5EF4-FFF2-40B4-BE49-F238E27FC236}">
                <a16:creationId xmlns:a16="http://schemas.microsoft.com/office/drawing/2014/main" id="{D337403E-4A63-3B42-FC84-47BAEDD7A7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46311" y="1543323"/>
            <a:ext cx="5469745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6275945" y="1543323"/>
            <a:ext cx="5458727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710C66FF-C32F-9EF8-4FBC-44E08230B6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64929" y="3652271"/>
            <a:ext cx="5469743" cy="2345757"/>
          </a:xfrm>
        </p:spPr>
        <p:txBody>
          <a:bodyPr numCol="1">
            <a:noAutofit/>
          </a:bodyPr>
          <a:lstStyle>
            <a:lvl1pPr marL="285750" indent="-285750" algn="l" fontAlgn="t">
              <a:buFont typeface="Wingdings" pitchFamily="2" charset="2"/>
              <a:buChar char="§"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A7288C-38D9-0159-D0E4-B042D466D17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88A3B5A-934C-4564-B9F9-D88CB5D607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3796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with Copy -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aseline="0">
                <a:solidFill>
                  <a:schemeClr val="accent4">
                    <a:lumMod val="6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6314" y="3652272"/>
            <a:ext cx="3534479" cy="2345757"/>
          </a:xfrm>
        </p:spPr>
        <p:txBody>
          <a:bodyPr numCol="1">
            <a:noAutofit/>
          </a:bodyPr>
          <a:lstStyle>
            <a:lvl1pPr marL="285750" indent="-285750" algn="l" fontAlgn="t">
              <a:buFont typeface="Wingdings" pitchFamily="2" charset="2"/>
              <a:buChar char="§"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4" name="Purdue Logo" descr="Purdue Logo">
            <a:extLst>
              <a:ext uri="{FF2B5EF4-FFF2-40B4-BE49-F238E27FC236}">
                <a16:creationId xmlns:a16="http://schemas.microsoft.com/office/drawing/2014/main" id="{D337403E-4A63-3B42-FC84-47BAEDD7A7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46312" y="1543323"/>
            <a:ext cx="3534479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336974" y="1543324"/>
            <a:ext cx="3527360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710C66FF-C32F-9EF8-4FBC-44E08230B6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325959" y="3652272"/>
            <a:ext cx="3534479" cy="2345757"/>
          </a:xfrm>
        </p:spPr>
        <p:txBody>
          <a:bodyPr numCol="1">
            <a:noAutofit/>
          </a:bodyPr>
          <a:lstStyle>
            <a:lvl1pPr marL="285750" indent="-285750" algn="l" fontAlgn="t">
              <a:buFont typeface="Wingdings" pitchFamily="2" charset="2"/>
              <a:buChar char="§"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5D5694FC-6767-0363-8F8C-4C8AEA0C5DCC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8205605" y="1532307"/>
            <a:ext cx="3527360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347E27B2-1DE2-3469-81EF-9EBD7DC7AF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94590" y="3641255"/>
            <a:ext cx="3534479" cy="2345757"/>
          </a:xfrm>
        </p:spPr>
        <p:txBody>
          <a:bodyPr numCol="1">
            <a:noAutofit/>
          </a:bodyPr>
          <a:lstStyle>
            <a:lvl1pPr marL="285750" indent="-285750" algn="l" fontAlgn="t">
              <a:buFont typeface="Wingdings" pitchFamily="2" charset="2"/>
              <a:buChar char="§"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47B2B3-AD22-934B-7901-EF00010BA35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88A3B5A-934C-4564-B9F9-D88CB5D607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40047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27402-16CB-60F1-259A-4E1A16194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2" y="457200"/>
            <a:ext cx="4314823" cy="96409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889552-EB9F-6D72-9130-E107C02C22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2" y="1570383"/>
            <a:ext cx="4314823" cy="429860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5F6EAB8-D2BB-0BDE-C7AC-895B69CA53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871" y="457200"/>
            <a:ext cx="6662927" cy="54117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3" name="Purdue Logo" descr="Purdue Logo">
            <a:extLst>
              <a:ext uri="{FF2B5EF4-FFF2-40B4-BE49-F238E27FC236}">
                <a16:creationId xmlns:a16="http://schemas.microsoft.com/office/drawing/2014/main" id="{821C840C-3AA9-6493-3A9D-CE82D8D492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6DC60-EE89-734D-242E-5043417AC8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8A3B5A-934C-4564-B9F9-D88CB5D607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7765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hoto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99A83-2C12-9A72-A547-B9374C107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314" y="470037"/>
            <a:ext cx="4325711" cy="1034775"/>
          </a:xfrm>
        </p:spPr>
        <p:txBody>
          <a:bodyPr anchor="b"/>
          <a:lstStyle>
            <a:lvl1pPr fontAlgn="t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470037"/>
            <a:ext cx="6562498" cy="5391013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6314" y="1759226"/>
            <a:ext cx="4325711" cy="4086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Purdue Logo" descr="Purdue Logo">
            <a:extLst>
              <a:ext uri="{FF2B5EF4-FFF2-40B4-BE49-F238E27FC236}">
                <a16:creationId xmlns:a16="http://schemas.microsoft.com/office/drawing/2014/main" id="{0369561B-6E0A-309C-13AF-C89F6E6E23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DDC806-6E08-B58A-6B09-ECD209B759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8A3B5A-934C-4564-B9F9-D88CB5D607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602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46313" y="1543323"/>
            <a:ext cx="5458727" cy="431772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9" name="Purdue Logo" descr="Purdue Logo">
            <a:extLst>
              <a:ext uri="{FF2B5EF4-FFF2-40B4-BE49-F238E27FC236}">
                <a16:creationId xmlns:a16="http://schemas.microsoft.com/office/drawing/2014/main" id="{0369561B-6E0A-309C-13AF-C89F6E6E23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B7832766-AA56-63AE-E2AA-9A2947343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CF92D672-5C11-B647-ADA7-722837BA86C0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6286962" y="1543323"/>
            <a:ext cx="5458727" cy="431772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6AFB8997-E903-BD34-CBB7-A70F3BD090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480C45-204B-0517-4FC2-236945E741B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88A3B5A-934C-4564-B9F9-D88CB5D607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5946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py with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68086" y="1543323"/>
            <a:ext cx="5862679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615759" y="1543322"/>
            <a:ext cx="5129927" cy="430757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Purdue Logo" descr="Purdue Logo">
            <a:extLst>
              <a:ext uri="{FF2B5EF4-FFF2-40B4-BE49-F238E27FC236}">
                <a16:creationId xmlns:a16="http://schemas.microsoft.com/office/drawing/2014/main" id="{0369561B-6E0A-309C-13AF-C89F6E6E23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3486577" y="3795304"/>
            <a:ext cx="2844188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68086" y="3795304"/>
            <a:ext cx="2844188" cy="2055592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A3C43D-3312-15BB-B055-F99C088EB6F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88A3B5A-934C-4564-B9F9-D88CB5D607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9961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s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35428" y="3253121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Purdue Logo" descr="Purdue Logo">
            <a:extLst>
              <a:ext uri="{FF2B5EF4-FFF2-40B4-BE49-F238E27FC236}">
                <a16:creationId xmlns:a16="http://schemas.microsoft.com/office/drawing/2014/main" id="{0369561B-6E0A-309C-13AF-C89F6E6E23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57200" y="1367317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60A3B0E8-AC0D-A169-37E3-2D123D6EBF24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4325104" y="1367317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640970D8-E511-89A8-FC5C-6DB37485ADE3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8181729" y="1367317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6B04B79A-B4BD-0306-3D46-D570E1F51CA6}"/>
              </a:ext>
            </a:extLst>
          </p:cNvPr>
          <p:cNvSpPr>
            <a:spLocks noGrp="1"/>
          </p:cNvSpPr>
          <p:nvPr>
            <p:ph type="body" sz="half" idx="18"/>
          </p:nvPr>
        </p:nvSpPr>
        <p:spPr>
          <a:xfrm>
            <a:off x="4303332" y="3253121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50B4796-C4B7-C272-5ADD-7D6C896B703E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8181729" y="3253121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4633AE4D-056F-FC97-1F10-877F247AB319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413656" y="5656648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19716662-3C77-F831-E45C-F9EA49810F58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435428" y="3770844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1ED1A14F-5E0D-476E-9C60-BD987EFC4940}"/>
              </a:ext>
            </a:extLst>
          </p:cNvPr>
          <p:cNvSpPr>
            <a:spLocks noGrp="1"/>
          </p:cNvSpPr>
          <p:nvPr>
            <p:ph type="pic" idx="22"/>
          </p:nvPr>
        </p:nvSpPr>
        <p:spPr>
          <a:xfrm>
            <a:off x="4303332" y="3770844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A0003A4C-26CB-DD7F-0B22-024AFB58DC67}"/>
              </a:ext>
            </a:extLst>
          </p:cNvPr>
          <p:cNvSpPr>
            <a:spLocks noGrp="1"/>
          </p:cNvSpPr>
          <p:nvPr>
            <p:ph type="pic" idx="23"/>
          </p:nvPr>
        </p:nvSpPr>
        <p:spPr>
          <a:xfrm>
            <a:off x="8193008" y="3770844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08CE8D58-56A2-6AE5-AB18-C53F4134DD88}"/>
              </a:ext>
            </a:extLst>
          </p:cNvPr>
          <p:cNvSpPr>
            <a:spLocks noGrp="1"/>
          </p:cNvSpPr>
          <p:nvPr>
            <p:ph type="body" sz="half" idx="24"/>
          </p:nvPr>
        </p:nvSpPr>
        <p:spPr>
          <a:xfrm>
            <a:off x="4281560" y="5656648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7A4C2D1F-1A58-AC60-F606-B816E5F23FFF}"/>
              </a:ext>
            </a:extLst>
          </p:cNvPr>
          <p:cNvSpPr>
            <a:spLocks noGrp="1"/>
          </p:cNvSpPr>
          <p:nvPr>
            <p:ph type="body" sz="half" idx="25"/>
          </p:nvPr>
        </p:nvSpPr>
        <p:spPr>
          <a:xfrm>
            <a:off x="8193008" y="5656648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924D92CB-DB6C-EEE8-BDA7-E3D7B064364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0A2560-8530-94AA-9E7F-F5A56AB4E3D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C88A3B5A-934C-4564-B9F9-D88CB5D607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3993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C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4" name="Purdue Logo" descr="Purdue Logo">
            <a:extLst>
              <a:ext uri="{FF2B5EF4-FFF2-40B4-BE49-F238E27FC236}">
                <a16:creationId xmlns:a16="http://schemas.microsoft.com/office/drawing/2014/main" id="{D337403E-4A63-3B42-FC84-47BAEDD7A7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46314" y="1542762"/>
            <a:ext cx="2611015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344063" y="1542762"/>
            <a:ext cx="2605756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5D5694FC-6767-0363-8F8C-4C8AEA0C5DCC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6236553" y="1542762"/>
            <a:ext cx="2605756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6223A017-A902-92C1-8A99-7D45B08D860D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9129043" y="1542762"/>
            <a:ext cx="2605756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FE352EAA-3DC6-450E-518D-B55638975ECE}"/>
              </a:ext>
            </a:extLst>
          </p:cNvPr>
          <p:cNvSpPr>
            <a:spLocks noGrp="1"/>
          </p:cNvSpPr>
          <p:nvPr>
            <p:ph type="pic" idx="18"/>
          </p:nvPr>
        </p:nvSpPr>
        <p:spPr>
          <a:xfrm>
            <a:off x="1843620" y="3651150"/>
            <a:ext cx="2611015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1E5E3807-051E-4D4B-1143-A6B4BDDBB5D8}"/>
              </a:ext>
            </a:extLst>
          </p:cNvPr>
          <p:cNvSpPr>
            <a:spLocks noGrp="1"/>
          </p:cNvSpPr>
          <p:nvPr>
            <p:ph type="pic" idx="19"/>
          </p:nvPr>
        </p:nvSpPr>
        <p:spPr>
          <a:xfrm>
            <a:off x="4741369" y="3651150"/>
            <a:ext cx="2605756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9659EF4B-6B57-DE2A-B33A-D60A659CFE6D}"/>
              </a:ext>
            </a:extLst>
          </p:cNvPr>
          <p:cNvSpPr>
            <a:spLocks noGrp="1"/>
          </p:cNvSpPr>
          <p:nvPr>
            <p:ph type="pic" idx="20"/>
          </p:nvPr>
        </p:nvSpPr>
        <p:spPr>
          <a:xfrm>
            <a:off x="7633859" y="3651150"/>
            <a:ext cx="2605756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B72767-6954-6B12-1677-BE947CE88EB8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C88A3B5A-934C-4564-B9F9-D88CB5D607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84727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with 2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21986" y="1643073"/>
            <a:ext cx="5212813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9" name="Purdue Logo" descr="Purdue Logo">
            <a:extLst>
              <a:ext uri="{FF2B5EF4-FFF2-40B4-BE49-F238E27FC236}">
                <a16:creationId xmlns:a16="http://schemas.microsoft.com/office/drawing/2014/main" id="{0369561B-6E0A-309C-13AF-C89F6E6E23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6521986" y="3884037"/>
            <a:ext cx="5212813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2C5294-0EFC-A3EC-D994-11DDCFE70D67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46315" y="1643073"/>
            <a:ext cx="5745165" cy="430757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7A134D-7A3A-AD4B-91DF-57347E308706}"/>
              </a:ext>
            </a:extLst>
          </p:cNvPr>
          <p:cNvSpPr/>
          <p:nvPr/>
        </p:nvSpPr>
        <p:spPr>
          <a:xfrm>
            <a:off x="6521986" y="3395949"/>
            <a:ext cx="5212813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4581B053-21C8-C0AD-58C7-637A6315D1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21726" y="3395949"/>
            <a:ext cx="5212943" cy="30271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8B2033E-9DB9-9A2B-D4C5-6D8960838D22}"/>
              </a:ext>
            </a:extLst>
          </p:cNvPr>
          <p:cNvSpPr/>
          <p:nvPr/>
        </p:nvSpPr>
        <p:spPr>
          <a:xfrm>
            <a:off x="6521856" y="5636913"/>
            <a:ext cx="5212813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F02FFCFA-A84F-7535-4A5F-29A5FC646063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6521726" y="5636913"/>
            <a:ext cx="5212813" cy="30271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C45827-5CB3-E873-7680-6D8C2AAB95D6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C88A3B5A-934C-4564-B9F9-D88CB5D607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2007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with 3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21986" y="1643073"/>
            <a:ext cx="5212813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9" name="Purdue Logo" descr="Purdue Logo">
            <a:extLst>
              <a:ext uri="{FF2B5EF4-FFF2-40B4-BE49-F238E27FC236}">
                <a16:creationId xmlns:a16="http://schemas.microsoft.com/office/drawing/2014/main" id="{0369561B-6E0A-309C-13AF-C89F6E6E23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9287219" y="3884037"/>
            <a:ext cx="2447580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6521986" y="3879120"/>
            <a:ext cx="2528916" cy="2055592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2C5294-0EFC-A3EC-D994-11DDCFE70D67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46315" y="1643073"/>
            <a:ext cx="5745165" cy="430757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AC4E08-5A51-BF4F-655E-4E54DD771548}"/>
              </a:ext>
            </a:extLst>
          </p:cNvPr>
          <p:cNvSpPr/>
          <p:nvPr/>
        </p:nvSpPr>
        <p:spPr>
          <a:xfrm>
            <a:off x="6521986" y="3395949"/>
            <a:ext cx="5212813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7D80C23-74F3-F853-02BF-83C743039F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71823" y="3395949"/>
            <a:ext cx="5162846" cy="30271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F22EB8-4EFD-86A4-8EB8-8A4F1A1AA2DF}"/>
              </a:ext>
            </a:extLst>
          </p:cNvPr>
          <p:cNvSpPr/>
          <p:nvPr/>
        </p:nvSpPr>
        <p:spPr>
          <a:xfrm>
            <a:off x="6512818" y="5631997"/>
            <a:ext cx="2512330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6A4B2AA-E0AE-18DD-BAA3-AF2A9CA6987A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6562654" y="5631997"/>
            <a:ext cx="2488248" cy="30271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18B5CD1-FF93-2C9C-1BFF-73A3CE39E65D}"/>
              </a:ext>
            </a:extLst>
          </p:cNvPr>
          <p:cNvSpPr/>
          <p:nvPr/>
        </p:nvSpPr>
        <p:spPr>
          <a:xfrm>
            <a:off x="9287218" y="5641703"/>
            <a:ext cx="2431941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C52272AC-9734-6D60-9441-B5E7B9E4E372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9337055" y="5641703"/>
            <a:ext cx="2408630" cy="30271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1CBD603-B977-E0E5-7C2E-C0061CD0B72C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C88A3B5A-934C-4564-B9F9-D88CB5D607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6176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 - 3 Blocks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4CFF414-FA47-F7EC-7EFB-7073E26BB831}"/>
              </a:ext>
            </a:extLst>
          </p:cNvPr>
          <p:cNvSpPr/>
          <p:nvPr/>
        </p:nvSpPr>
        <p:spPr>
          <a:xfrm>
            <a:off x="7938475" y="1315894"/>
            <a:ext cx="3319531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3C0F4F-1E76-E3A4-E5AA-8FA79C7C69FB}"/>
              </a:ext>
            </a:extLst>
          </p:cNvPr>
          <p:cNvSpPr/>
          <p:nvPr/>
        </p:nvSpPr>
        <p:spPr>
          <a:xfrm>
            <a:off x="4420956" y="1315895"/>
            <a:ext cx="3319531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7105CB-DECE-0616-2A57-776784CFC1CB}"/>
              </a:ext>
            </a:extLst>
          </p:cNvPr>
          <p:cNvSpPr/>
          <p:nvPr/>
        </p:nvSpPr>
        <p:spPr>
          <a:xfrm>
            <a:off x="903437" y="1315896"/>
            <a:ext cx="3319531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813FE17-B697-FB87-4ED6-D832D798E90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3506" y="1436468"/>
            <a:ext cx="3319462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8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B65CB9D-AA49-05C2-2100-C63D32C82B8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101943" y="4045824"/>
            <a:ext cx="2951163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43204028-135E-83A2-B94A-693154F531B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21284" y="1436468"/>
            <a:ext cx="3319462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8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D4E810FD-2D00-764A-B144-B235C21E32F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19721" y="4045824"/>
            <a:ext cx="2951163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0A71EF50-386A-A3B9-93FB-6EF179A4EE4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938803" y="1433918"/>
            <a:ext cx="3319462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8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23" name="Picture Placeholder 10">
            <a:extLst>
              <a:ext uri="{FF2B5EF4-FFF2-40B4-BE49-F238E27FC236}">
                <a16:creationId xmlns:a16="http://schemas.microsoft.com/office/drawing/2014/main" id="{6AE17ED9-FDD9-34C3-1F7D-9A8EA4C4B40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37240" y="4043274"/>
            <a:ext cx="2951163" cy="155575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15" name="Purdue Logo" descr="Purdue Logo">
            <a:extLst>
              <a:ext uri="{FF2B5EF4-FFF2-40B4-BE49-F238E27FC236}">
                <a16:creationId xmlns:a16="http://schemas.microsoft.com/office/drawing/2014/main" id="{F444D1CF-9A99-D079-5D89-6DE824A893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16" name="Title 15">
            <a:extLst>
              <a:ext uri="{FF2B5EF4-FFF2-40B4-BE49-F238E27FC236}">
                <a16:creationId xmlns:a16="http://schemas.microsoft.com/office/drawing/2014/main" id="{77D3ED32-45F9-B948-371F-67E8465B2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140B5B1B-89D1-9945-6AB1-0D9B2E27009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087907" y="2065260"/>
            <a:ext cx="2950589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body copy.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CCAB75A6-8C36-AD93-09A1-D377BF55C686}"/>
              </a:ext>
            </a:extLst>
          </p:cNvPr>
          <p:cNvSpPr>
            <a:spLocks noGrp="1"/>
          </p:cNvSpPr>
          <p:nvPr>
            <p:ph type="body" sz="half" idx="20" hasCustomPrompt="1"/>
          </p:nvPr>
        </p:nvSpPr>
        <p:spPr>
          <a:xfrm>
            <a:off x="4605427" y="2065259"/>
            <a:ext cx="2950589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body copy.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9BFCE088-E342-EDAD-213D-39C8B8D85057}"/>
              </a:ext>
            </a:extLst>
          </p:cNvPr>
          <p:cNvSpPr>
            <a:spLocks noGrp="1"/>
          </p:cNvSpPr>
          <p:nvPr>
            <p:ph type="body" sz="half" idx="21" hasCustomPrompt="1"/>
          </p:nvPr>
        </p:nvSpPr>
        <p:spPr>
          <a:xfrm>
            <a:off x="8122945" y="2065259"/>
            <a:ext cx="2950589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body copy.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52A11A-CEFD-01B7-2324-466BE85E97BA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C88A3B5A-934C-4564-B9F9-D88CB5D607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55876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 - 3 Blocks - G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C98D576-4759-5408-883D-2E56D9D0F603}"/>
              </a:ext>
            </a:extLst>
          </p:cNvPr>
          <p:cNvSpPr/>
          <p:nvPr/>
        </p:nvSpPr>
        <p:spPr>
          <a:xfrm>
            <a:off x="7938216" y="1315892"/>
            <a:ext cx="3319531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C44A1A-1D1D-F2D9-8EC1-EFF25EBA1FB0}"/>
              </a:ext>
            </a:extLst>
          </p:cNvPr>
          <p:cNvSpPr/>
          <p:nvPr/>
        </p:nvSpPr>
        <p:spPr>
          <a:xfrm>
            <a:off x="4420697" y="1315893"/>
            <a:ext cx="3319531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38D75A-DD50-6C6E-0A9D-7F77E72C780A}"/>
              </a:ext>
            </a:extLst>
          </p:cNvPr>
          <p:cNvSpPr/>
          <p:nvPr/>
        </p:nvSpPr>
        <p:spPr>
          <a:xfrm>
            <a:off x="903178" y="1315894"/>
            <a:ext cx="3319531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876A1563-09E6-06B6-EC4A-8E309CC57B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3247" y="1436466"/>
            <a:ext cx="3319462" cy="339561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8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AF401EC8-7352-A985-133C-726A718A9E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21025" y="1436466"/>
            <a:ext cx="3319462" cy="339561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8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71A04C69-EC92-81B2-FCD5-39464C669BE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938544" y="1433916"/>
            <a:ext cx="3319462" cy="339561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8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AE5BF8CB-9477-F598-75C4-6F35D608B35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101684" y="2040670"/>
            <a:ext cx="2951163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body copy.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AE6CE746-1703-63A8-BBD4-546AD104E27E}"/>
              </a:ext>
            </a:extLst>
          </p:cNvPr>
          <p:cNvSpPr>
            <a:spLocks noGrp="1"/>
          </p:cNvSpPr>
          <p:nvPr>
            <p:ph type="body" sz="half" idx="24" hasCustomPrompt="1"/>
          </p:nvPr>
        </p:nvSpPr>
        <p:spPr>
          <a:xfrm>
            <a:off x="4604880" y="2065258"/>
            <a:ext cx="2951163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body copy.</a:t>
            </a:r>
          </a:p>
        </p:txBody>
      </p:sp>
      <p:sp>
        <p:nvSpPr>
          <p:cNvPr id="33" name="Picture Placeholder 10">
            <a:extLst>
              <a:ext uri="{FF2B5EF4-FFF2-40B4-BE49-F238E27FC236}">
                <a16:creationId xmlns:a16="http://schemas.microsoft.com/office/drawing/2014/main" id="{53952BA5-2190-5106-0EBD-DA1D15EFBB9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101684" y="4045822"/>
            <a:ext cx="2951163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10">
            <a:extLst>
              <a:ext uri="{FF2B5EF4-FFF2-40B4-BE49-F238E27FC236}">
                <a16:creationId xmlns:a16="http://schemas.microsoft.com/office/drawing/2014/main" id="{835FE666-CADC-4DB4-80A4-BFD9823DE05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19462" y="4045822"/>
            <a:ext cx="2951163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5" name="Picture Placeholder 10">
            <a:extLst>
              <a:ext uri="{FF2B5EF4-FFF2-40B4-BE49-F238E27FC236}">
                <a16:creationId xmlns:a16="http://schemas.microsoft.com/office/drawing/2014/main" id="{AECA5017-0E7C-4957-02B2-65FA6C1F6E5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36981" y="4043272"/>
            <a:ext cx="2951163" cy="155575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9F4CE92C-83FA-CA44-69CB-E6229E144199}"/>
              </a:ext>
            </a:extLst>
          </p:cNvPr>
          <p:cNvSpPr>
            <a:spLocks noGrp="1"/>
          </p:cNvSpPr>
          <p:nvPr>
            <p:ph type="body" sz="half" idx="25" hasCustomPrompt="1"/>
          </p:nvPr>
        </p:nvSpPr>
        <p:spPr>
          <a:xfrm>
            <a:off x="8129414" y="2071424"/>
            <a:ext cx="2951163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body copy.</a:t>
            </a:r>
          </a:p>
        </p:txBody>
      </p:sp>
      <p:pic>
        <p:nvPicPr>
          <p:cNvPr id="39" name="Purdue Logo" descr="Purdue Logo">
            <a:extLst>
              <a:ext uri="{FF2B5EF4-FFF2-40B4-BE49-F238E27FC236}">
                <a16:creationId xmlns:a16="http://schemas.microsoft.com/office/drawing/2014/main" id="{28B0C093-6F71-44D4-5731-9A086B7811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40" name="Title 39">
            <a:extLst>
              <a:ext uri="{FF2B5EF4-FFF2-40B4-BE49-F238E27FC236}">
                <a16:creationId xmlns:a16="http://schemas.microsoft.com/office/drawing/2014/main" id="{2CAB310C-9DF2-C217-7A37-81705800E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C556C0F-0FF4-1816-A9DC-60D03FBFCE53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C88A3B5A-934C-4564-B9F9-D88CB5D607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46512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 - 5 Color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urdue Logo" descr="Purdue Logo">
            <a:extLst>
              <a:ext uri="{FF2B5EF4-FFF2-40B4-BE49-F238E27FC236}">
                <a16:creationId xmlns:a16="http://schemas.microsoft.com/office/drawing/2014/main" id="{28B0C093-6F71-44D4-5731-9A086B7811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314" y="6227781"/>
            <a:ext cx="1803190" cy="322767"/>
          </a:xfrm>
          <a:prstGeom prst="rect">
            <a:avLst/>
          </a:prstGeom>
        </p:spPr>
      </p:pic>
      <p:sp>
        <p:nvSpPr>
          <p:cNvPr id="40" name="Title 39">
            <a:extLst>
              <a:ext uri="{FF2B5EF4-FFF2-40B4-BE49-F238E27FC236}">
                <a16:creationId xmlns:a16="http://schemas.microsoft.com/office/drawing/2014/main" id="{2CAB310C-9DF2-C217-7A37-81705800E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79A34A-6A6B-FC98-1EC8-8347FAB1A48F}"/>
              </a:ext>
            </a:extLst>
          </p:cNvPr>
          <p:cNvSpPr/>
          <p:nvPr/>
        </p:nvSpPr>
        <p:spPr>
          <a:xfrm>
            <a:off x="1008584" y="1660596"/>
            <a:ext cx="1918020" cy="4364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3F2A76-73C1-7478-1C52-F70D9B50BC0A}"/>
              </a:ext>
            </a:extLst>
          </p:cNvPr>
          <p:cNvSpPr/>
          <p:nvPr/>
        </p:nvSpPr>
        <p:spPr>
          <a:xfrm>
            <a:off x="1011339" y="2160555"/>
            <a:ext cx="1915265" cy="323350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12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B6525D0-8078-E003-46A7-FFCB83C221E0}"/>
              </a:ext>
            </a:extLst>
          </p:cNvPr>
          <p:cNvSpPr/>
          <p:nvPr/>
        </p:nvSpPr>
        <p:spPr>
          <a:xfrm>
            <a:off x="3045437" y="1660596"/>
            <a:ext cx="1918020" cy="43641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E6AD059-9160-4AE4-0F86-92FB0AAD082C}"/>
              </a:ext>
            </a:extLst>
          </p:cNvPr>
          <p:cNvSpPr/>
          <p:nvPr/>
        </p:nvSpPr>
        <p:spPr>
          <a:xfrm>
            <a:off x="3048192" y="2160555"/>
            <a:ext cx="1915265" cy="323350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12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0F701C0-7A2F-0B95-E95C-07302A14CA56}"/>
              </a:ext>
            </a:extLst>
          </p:cNvPr>
          <p:cNvSpPr/>
          <p:nvPr/>
        </p:nvSpPr>
        <p:spPr>
          <a:xfrm>
            <a:off x="5082290" y="1660596"/>
            <a:ext cx="1918020" cy="436418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D786ED8-9187-C7FB-F774-CE52A2971FFD}"/>
              </a:ext>
            </a:extLst>
          </p:cNvPr>
          <p:cNvSpPr/>
          <p:nvPr/>
        </p:nvSpPr>
        <p:spPr>
          <a:xfrm>
            <a:off x="5085045" y="2160555"/>
            <a:ext cx="1915265" cy="323350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12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A6F5635-02F3-829F-B778-4A766D8D4A2D}"/>
              </a:ext>
            </a:extLst>
          </p:cNvPr>
          <p:cNvSpPr/>
          <p:nvPr/>
        </p:nvSpPr>
        <p:spPr>
          <a:xfrm>
            <a:off x="7119143" y="1660596"/>
            <a:ext cx="1918020" cy="43641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CBD6A50-2E1C-FDDB-2F9B-D9101B8535C5}"/>
              </a:ext>
            </a:extLst>
          </p:cNvPr>
          <p:cNvSpPr/>
          <p:nvPr/>
        </p:nvSpPr>
        <p:spPr>
          <a:xfrm>
            <a:off x="7121898" y="2160555"/>
            <a:ext cx="1915265" cy="323350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12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239B4FF-413F-3DBC-C6E4-087C951C5464}"/>
              </a:ext>
            </a:extLst>
          </p:cNvPr>
          <p:cNvSpPr/>
          <p:nvPr/>
        </p:nvSpPr>
        <p:spPr>
          <a:xfrm>
            <a:off x="9155998" y="1660596"/>
            <a:ext cx="1918020" cy="436418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CB8434E-9F38-4592-327E-51A570C73E09}"/>
              </a:ext>
            </a:extLst>
          </p:cNvPr>
          <p:cNvSpPr/>
          <p:nvPr/>
        </p:nvSpPr>
        <p:spPr>
          <a:xfrm>
            <a:off x="9158753" y="2160555"/>
            <a:ext cx="1915265" cy="323350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12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1BA8130D-B7F2-9815-5056-6F334D4BBA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08584" y="1783909"/>
            <a:ext cx="1918018" cy="220506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5" name="Text Placeholder 6">
            <a:extLst>
              <a:ext uri="{FF2B5EF4-FFF2-40B4-BE49-F238E27FC236}">
                <a16:creationId xmlns:a16="http://schemas.microsoft.com/office/drawing/2014/main" id="{A41A66E4-0B84-E1FB-88CD-3E0E6E80C4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045438" y="1768552"/>
            <a:ext cx="1918018" cy="220506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6" name="Text Placeholder 6">
            <a:extLst>
              <a:ext uri="{FF2B5EF4-FFF2-40B4-BE49-F238E27FC236}">
                <a16:creationId xmlns:a16="http://schemas.microsoft.com/office/drawing/2014/main" id="{235E5CE7-3D80-1BB5-DACD-8A63CA927E9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082291" y="1768552"/>
            <a:ext cx="1918018" cy="220506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7" name="Text Placeholder 6">
            <a:extLst>
              <a:ext uri="{FF2B5EF4-FFF2-40B4-BE49-F238E27FC236}">
                <a16:creationId xmlns:a16="http://schemas.microsoft.com/office/drawing/2014/main" id="{685C02D4-EA4F-4962-D397-F6439EC5C6E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119145" y="1768552"/>
            <a:ext cx="1918018" cy="220506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8" name="Text Placeholder 6">
            <a:extLst>
              <a:ext uri="{FF2B5EF4-FFF2-40B4-BE49-F238E27FC236}">
                <a16:creationId xmlns:a16="http://schemas.microsoft.com/office/drawing/2014/main" id="{1F46F0A7-55C4-6BAE-BCB0-157A86C9199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156000" y="1770870"/>
            <a:ext cx="1918018" cy="220506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9" name="Text Placeholder 3">
            <a:extLst>
              <a:ext uri="{FF2B5EF4-FFF2-40B4-BE49-F238E27FC236}">
                <a16:creationId xmlns:a16="http://schemas.microsoft.com/office/drawing/2014/main" id="{9E69C3F7-0A3A-FAC2-6540-8BB750E9AA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7982" y="2312717"/>
            <a:ext cx="1658269" cy="295802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3">
            <a:extLst>
              <a:ext uri="{FF2B5EF4-FFF2-40B4-BE49-F238E27FC236}">
                <a16:creationId xmlns:a16="http://schemas.microsoft.com/office/drawing/2014/main" id="{040CB427-2320-1A81-037C-6D83BCA5B36F}"/>
              </a:ext>
            </a:extLst>
          </p:cNvPr>
          <p:cNvSpPr>
            <a:spLocks noGrp="1"/>
          </p:cNvSpPr>
          <p:nvPr>
            <p:ph type="body" sz="half" idx="32"/>
          </p:nvPr>
        </p:nvSpPr>
        <p:spPr>
          <a:xfrm>
            <a:off x="3175312" y="2299864"/>
            <a:ext cx="1658269" cy="295802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3">
            <a:extLst>
              <a:ext uri="{FF2B5EF4-FFF2-40B4-BE49-F238E27FC236}">
                <a16:creationId xmlns:a16="http://schemas.microsoft.com/office/drawing/2014/main" id="{3144BCA8-7BD5-8323-CDAB-E5362D78AA68}"/>
              </a:ext>
            </a:extLst>
          </p:cNvPr>
          <p:cNvSpPr>
            <a:spLocks noGrp="1"/>
          </p:cNvSpPr>
          <p:nvPr>
            <p:ph type="body" sz="half" idx="33"/>
          </p:nvPr>
        </p:nvSpPr>
        <p:spPr>
          <a:xfrm>
            <a:off x="5212165" y="2298292"/>
            <a:ext cx="1658269" cy="295802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3">
            <a:extLst>
              <a:ext uri="{FF2B5EF4-FFF2-40B4-BE49-F238E27FC236}">
                <a16:creationId xmlns:a16="http://schemas.microsoft.com/office/drawing/2014/main" id="{82EC0719-39BA-B2AB-F29D-3C947DC78925}"/>
              </a:ext>
            </a:extLst>
          </p:cNvPr>
          <p:cNvSpPr>
            <a:spLocks noGrp="1"/>
          </p:cNvSpPr>
          <p:nvPr>
            <p:ph type="body" sz="half" idx="34"/>
          </p:nvPr>
        </p:nvSpPr>
        <p:spPr>
          <a:xfrm>
            <a:off x="7249018" y="2298292"/>
            <a:ext cx="1658269" cy="295802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3">
            <a:extLst>
              <a:ext uri="{FF2B5EF4-FFF2-40B4-BE49-F238E27FC236}">
                <a16:creationId xmlns:a16="http://schemas.microsoft.com/office/drawing/2014/main" id="{B939ED29-1A95-3771-8E52-C1F99F848ABD}"/>
              </a:ext>
            </a:extLst>
          </p:cNvPr>
          <p:cNvSpPr>
            <a:spLocks noGrp="1"/>
          </p:cNvSpPr>
          <p:nvPr>
            <p:ph type="body" sz="half" idx="35"/>
          </p:nvPr>
        </p:nvSpPr>
        <p:spPr>
          <a:xfrm>
            <a:off x="9285873" y="2312717"/>
            <a:ext cx="1658269" cy="295802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Text Placeholder 13">
            <a:extLst>
              <a:ext uri="{FF2B5EF4-FFF2-40B4-BE49-F238E27FC236}">
                <a16:creationId xmlns:a16="http://schemas.microsoft.com/office/drawing/2014/main" id="{F45DEB53-8B0A-80C6-DDED-B7234423508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5728143-5B5E-2F91-1A50-ECF61312F188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/>
          <a:p>
            <a:fld id="{C88A3B5A-934C-4564-B9F9-D88CB5D607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27063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with Caption - Black Diago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610386" y="-9524"/>
            <a:ext cx="6581614" cy="6882938"/>
          </a:xfrm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00C207-AC1E-087B-DE95-A55BC82CAF9A}"/>
              </a:ext>
            </a:extLst>
          </p:cNvPr>
          <p:cNvSpPr/>
          <p:nvPr/>
        </p:nvSpPr>
        <p:spPr>
          <a:xfrm>
            <a:off x="0" y="-9440"/>
            <a:ext cx="7284203" cy="6882938"/>
          </a:xfrm>
          <a:custGeom>
            <a:avLst/>
            <a:gdLst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7284203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5114441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82938"/>
              <a:gd name="connsiteX1" fmla="*/ 7284203 w 7284203"/>
              <a:gd name="connsiteY1" fmla="*/ 0 h 6882938"/>
              <a:gd name="connsiteX2" fmla="*/ 5610386 w 7284203"/>
              <a:gd name="connsiteY2" fmla="*/ 6882938 h 6882938"/>
              <a:gd name="connsiteX3" fmla="*/ 0 w 7284203"/>
              <a:gd name="connsiteY3" fmla="*/ 6867440 h 6882938"/>
              <a:gd name="connsiteX4" fmla="*/ 0 w 7284203"/>
              <a:gd name="connsiteY4" fmla="*/ 0 h 688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84203" h="6882938">
                <a:moveTo>
                  <a:pt x="0" y="0"/>
                </a:moveTo>
                <a:lnTo>
                  <a:pt x="7284203" y="0"/>
                </a:lnTo>
                <a:lnTo>
                  <a:pt x="5610386" y="6882938"/>
                </a:lnTo>
                <a:lnTo>
                  <a:pt x="0" y="686744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2696218-EA6F-DE53-DF14-6383AEA46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005" y="891153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B620EBE-30BB-D534-67D3-D8578AA68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2005" y="2491353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E3836B8-46F8-6347-6A27-7BDA1D77E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A3B5A-934C-4564-B9F9-D88CB5D607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46303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with Caption - White Diago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610386" y="-9525"/>
            <a:ext cx="6581614" cy="6882938"/>
          </a:xfrm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00C207-AC1E-087B-DE95-A55BC82CAF9A}"/>
              </a:ext>
            </a:extLst>
          </p:cNvPr>
          <p:cNvSpPr/>
          <p:nvPr/>
        </p:nvSpPr>
        <p:spPr>
          <a:xfrm>
            <a:off x="0" y="0"/>
            <a:ext cx="7284203" cy="6882938"/>
          </a:xfrm>
          <a:custGeom>
            <a:avLst/>
            <a:gdLst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7284203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5114441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82938"/>
              <a:gd name="connsiteX1" fmla="*/ 7284203 w 7284203"/>
              <a:gd name="connsiteY1" fmla="*/ 0 h 6882938"/>
              <a:gd name="connsiteX2" fmla="*/ 5610386 w 7284203"/>
              <a:gd name="connsiteY2" fmla="*/ 6882938 h 6882938"/>
              <a:gd name="connsiteX3" fmla="*/ 0 w 7284203"/>
              <a:gd name="connsiteY3" fmla="*/ 6867440 h 6882938"/>
              <a:gd name="connsiteX4" fmla="*/ 0 w 7284203"/>
              <a:gd name="connsiteY4" fmla="*/ 0 h 688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84203" h="6882938">
                <a:moveTo>
                  <a:pt x="0" y="0"/>
                </a:moveTo>
                <a:lnTo>
                  <a:pt x="7284203" y="0"/>
                </a:lnTo>
                <a:lnTo>
                  <a:pt x="5610386" y="6882938"/>
                </a:lnTo>
                <a:lnTo>
                  <a:pt x="0" y="686744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2696218-EA6F-DE53-DF14-6383AEA462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2005" y="891153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B620EBE-30BB-D534-67D3-D8578AA68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2005" y="2491353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223C719-BBA8-8B6C-9920-142BDE7BB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A3B5A-934C-4564-B9F9-D88CB5D607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39226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6800" y="0"/>
            <a:ext cx="2235200" cy="6858000"/>
          </a:xfrm>
          <a:prstGeom prst="rect">
            <a:avLst/>
          </a:prstGeom>
          <a:noFill/>
        </p:spPr>
      </p:pic>
      <p:sp>
        <p:nvSpPr>
          <p:cNvPr id="6" name="Triangle 5">
            <a:extLst>
              <a:ext uri="{FF2B5EF4-FFF2-40B4-BE49-F238E27FC236}">
                <a16:creationId xmlns:a16="http://schemas.microsoft.com/office/drawing/2014/main" id="{47BD40D6-A6F9-8B8C-560F-0C7A97097E8F}"/>
              </a:ext>
            </a:extLst>
          </p:cNvPr>
          <p:cNvSpPr/>
          <p:nvPr/>
        </p:nvSpPr>
        <p:spPr>
          <a:xfrm>
            <a:off x="9954706" y="-9439"/>
            <a:ext cx="2246721" cy="6867440"/>
          </a:xfrm>
          <a:custGeom>
            <a:avLst/>
            <a:gdLst>
              <a:gd name="connsiteX0" fmla="*/ 0 w 2243579"/>
              <a:gd name="connsiteY0" fmla="*/ 0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0 w 2243579"/>
              <a:gd name="connsiteY4" fmla="*/ 0 h 6881568"/>
              <a:gd name="connsiteX0" fmla="*/ 1300899 w 2243579"/>
              <a:gd name="connsiteY0" fmla="*/ 565608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300899 w 2243579"/>
              <a:gd name="connsiteY4" fmla="*/ 565608 h 6881568"/>
              <a:gd name="connsiteX0" fmla="*/ 1602557 w 2243579"/>
              <a:gd name="connsiteY0" fmla="*/ 18854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602557 w 2243579"/>
              <a:gd name="connsiteY4" fmla="*/ 18854 h 6881568"/>
              <a:gd name="connsiteX0" fmla="*/ 1319753 w 1960775"/>
              <a:gd name="connsiteY0" fmla="*/ 18854 h 6881568"/>
              <a:gd name="connsiteX1" fmla="*/ 1960775 w 1960775"/>
              <a:gd name="connsiteY1" fmla="*/ 0 h 6881568"/>
              <a:gd name="connsiteX2" fmla="*/ 1960775 w 1960775"/>
              <a:gd name="connsiteY2" fmla="*/ 6881568 h 6881568"/>
              <a:gd name="connsiteX3" fmla="*/ 0 w 1960775"/>
              <a:gd name="connsiteY3" fmla="*/ 6806154 h 6881568"/>
              <a:gd name="connsiteX4" fmla="*/ 1319753 w 1960775"/>
              <a:gd name="connsiteY4" fmla="*/ 18854 h 6881568"/>
              <a:gd name="connsiteX0" fmla="*/ 1593130 w 2234152"/>
              <a:gd name="connsiteY0" fmla="*/ 18854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93130 w 2234152"/>
              <a:gd name="connsiteY4" fmla="*/ 18854 h 6881569"/>
              <a:gd name="connsiteX0" fmla="*/ 1583717 w 2234152"/>
              <a:gd name="connsiteY0" fmla="*/ 9420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83717 w 2234152"/>
              <a:gd name="connsiteY4" fmla="*/ 9420 h 6881569"/>
              <a:gd name="connsiteX0" fmla="*/ 1583717 w 2243566"/>
              <a:gd name="connsiteY0" fmla="*/ 0 h 6872149"/>
              <a:gd name="connsiteX1" fmla="*/ 2243566 w 2243566"/>
              <a:gd name="connsiteY1" fmla="*/ 12 h 6872149"/>
              <a:gd name="connsiteX2" fmla="*/ 2234152 w 2243566"/>
              <a:gd name="connsiteY2" fmla="*/ 6872148 h 6872149"/>
              <a:gd name="connsiteX3" fmla="*/ 0 w 2243566"/>
              <a:gd name="connsiteY3" fmla="*/ 6872149 h 6872149"/>
              <a:gd name="connsiteX4" fmla="*/ 1583717 w 2243566"/>
              <a:gd name="connsiteY4" fmla="*/ 0 h 6872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3566" h="6872149">
                <a:moveTo>
                  <a:pt x="1583717" y="0"/>
                </a:moveTo>
                <a:lnTo>
                  <a:pt x="2243566" y="12"/>
                </a:lnTo>
                <a:lnTo>
                  <a:pt x="2234152" y="6872148"/>
                </a:lnTo>
                <a:lnTo>
                  <a:pt x="0" y="6872149"/>
                </a:lnTo>
                <a:lnTo>
                  <a:pt x="1583717" y="0"/>
                </a:lnTo>
                <a:close/>
              </a:path>
            </a:pathLst>
          </a:custGeom>
          <a:solidFill>
            <a:srgbClr val="CFB9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1870E27-202E-F717-3FB6-D69451DF1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5070" y="2466280"/>
            <a:ext cx="7981645" cy="719757"/>
          </a:xfrm>
        </p:spPr>
        <p:txBody>
          <a:bodyPr>
            <a:noAutofit/>
          </a:bodyPr>
          <a:lstStyle>
            <a:lvl1pPr>
              <a:defRPr sz="9600" cap="none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E966E-ACAB-E285-70D0-66AC08DF13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4339" y="3434010"/>
            <a:ext cx="7874567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 b="0" i="0">
                <a:solidFill>
                  <a:schemeClr val="bg2"/>
                </a:solidFill>
                <a:latin typeface="Acumin Pro Medium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add contact info</a:t>
            </a:r>
          </a:p>
        </p:txBody>
      </p:sp>
      <p:pic>
        <p:nvPicPr>
          <p:cNvPr id="8" name="Purdue Logo" descr="Purdue Logo">
            <a:extLst>
              <a:ext uri="{FF2B5EF4-FFF2-40B4-BE49-F238E27FC236}">
                <a16:creationId xmlns:a16="http://schemas.microsoft.com/office/drawing/2014/main" id="{D1A65555-63A8-D3C1-AA71-F25B3071BD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070" y="5739119"/>
            <a:ext cx="2709200" cy="484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60203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 Slide -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6800" y="0"/>
            <a:ext cx="2235200" cy="6858000"/>
          </a:xfrm>
          <a:prstGeom prst="rect">
            <a:avLst/>
          </a:prstGeom>
          <a:noFill/>
        </p:spPr>
      </p:pic>
      <p:pic>
        <p:nvPicPr>
          <p:cNvPr id="4" name="Purdue Logo" descr="Purdue Logo">
            <a:extLst>
              <a:ext uri="{FF2B5EF4-FFF2-40B4-BE49-F238E27FC236}">
                <a16:creationId xmlns:a16="http://schemas.microsoft.com/office/drawing/2014/main" id="{BA4B2908-555F-78CD-D5EA-D087520FF3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143" y="5756156"/>
            <a:ext cx="2709200" cy="484940"/>
          </a:xfrm>
          <a:prstGeom prst="rect">
            <a:avLst/>
          </a:prstGeom>
        </p:spPr>
      </p:pic>
      <p:sp>
        <p:nvSpPr>
          <p:cNvPr id="3" name="Title 6">
            <a:extLst>
              <a:ext uri="{FF2B5EF4-FFF2-40B4-BE49-F238E27FC236}">
                <a16:creationId xmlns:a16="http://schemas.microsoft.com/office/drawing/2014/main" id="{1648B145-A545-0D6D-AFF0-0F715C9075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5070" y="2466280"/>
            <a:ext cx="7981645" cy="719757"/>
          </a:xfrm>
        </p:spPr>
        <p:txBody>
          <a:bodyPr>
            <a:noAutofit/>
          </a:bodyPr>
          <a:lstStyle>
            <a:lvl1pPr>
              <a:defRPr sz="960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E3D40940-377F-6BBC-02CB-083B672BF56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4339" y="3434010"/>
            <a:ext cx="7874567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 b="0" i="0">
                <a:solidFill>
                  <a:schemeClr val="tx1"/>
                </a:solidFill>
                <a:latin typeface="Acumin Pro Medium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add contact info</a:t>
            </a:r>
          </a:p>
        </p:txBody>
      </p:sp>
    </p:spTree>
    <p:extLst>
      <p:ext uri="{BB962C8B-B14F-4D97-AF65-F5344CB8AC3E}">
        <p14:creationId xmlns:p14="http://schemas.microsoft.com/office/powerpoint/2010/main" val="23309440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AF61CC-58D4-72CE-66CA-BFE87D085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86" y="385004"/>
            <a:ext cx="11266714" cy="5890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slide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FD4295-B2CD-F1FF-F99B-B267D1740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086" y="1192696"/>
            <a:ext cx="11266714" cy="48379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DCC5ACE-5747-34C7-00B2-2E4EABE6A0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34663" y="6290433"/>
            <a:ext cx="11001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8A3B5A-934C-4564-B9F9-D88CB5D607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3519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</p:sldLayoutIdLst>
  <p:txStyles>
    <p:titleStyle>
      <a:lvl1pPr algn="l" defTabSz="914400" rtl="0" eaLnBrk="1" fontAlgn="b" latinLnBrk="0" hangingPunct="1">
        <a:lnSpc>
          <a:spcPct val="90000"/>
        </a:lnSpc>
        <a:spcBef>
          <a:spcPct val="0"/>
        </a:spcBef>
        <a:buNone/>
        <a:defRPr lang="en-US" sz="4800" b="1" i="1" kern="1200" cap="none" baseline="0" dirty="0">
          <a:solidFill>
            <a:schemeClr val="tx1"/>
          </a:solidFill>
          <a:latin typeface="Acumin Pro Condensed Semibold" panose="020B0506020202020204" pitchFamily="34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itchFamily="2" charset="2"/>
        <a:buChar char="§"/>
        <a:defRPr sz="2000" b="0" i="0" kern="1200" baseline="0">
          <a:solidFill>
            <a:schemeClr val="tx1"/>
          </a:solidFill>
          <a:latin typeface="Acumin Pro" panose="020B0504020202020204" pitchFamily="34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800" b="0" i="0" kern="1200" baseline="0">
          <a:solidFill>
            <a:schemeClr val="tx1"/>
          </a:solidFill>
          <a:latin typeface="Acumin Pro" panose="020B0504020202020204" pitchFamily="34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600" b="0" i="0" kern="1200" baseline="0">
          <a:solidFill>
            <a:schemeClr val="tx1"/>
          </a:solidFill>
          <a:latin typeface="Acumin Pro" panose="020B0504020202020204" pitchFamily="34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500" b="0" i="0" kern="1200" baseline="0">
          <a:solidFill>
            <a:schemeClr val="tx1"/>
          </a:solidFill>
          <a:latin typeface="Acumin Pro" panose="020B0504020202020204" pitchFamily="34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400" b="0" i="0" kern="1200" baseline="0">
          <a:solidFill>
            <a:schemeClr val="tx1"/>
          </a:solidFill>
          <a:latin typeface="Acumin Pro" panose="020B0504020202020204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36598-DE3D-F395-38BF-9CE0B5C1C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Milestone 1 Presentation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363DBC-4ACB-FFB9-2A72-9034E33F24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Robert Claud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8AA387-456D-DD66-42A4-65B06B05A1A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9700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22ABD60-7B97-FCBC-C98C-E640E5F26269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 dirty="0"/>
              <a:t>Started this project after two failed attempts at other projects with companies</a:t>
            </a:r>
          </a:p>
          <a:p>
            <a:pPr lvl="1"/>
            <a:r>
              <a:rPr lang="en-US" dirty="0"/>
              <a:t>First Project: Particle Monitoring System for Northrop Grumman</a:t>
            </a:r>
          </a:p>
          <a:p>
            <a:pPr lvl="2"/>
            <a:r>
              <a:rPr lang="en-US" dirty="0"/>
              <a:t>Unsuccessful due to cybersecurity policies related to working in the defense industry</a:t>
            </a:r>
          </a:p>
          <a:p>
            <a:pPr lvl="2"/>
            <a:r>
              <a:rPr lang="en-US" dirty="0"/>
              <a:t>The timeline for this class was not long enough to account for sufficient cybersecurity review and approval by the company</a:t>
            </a:r>
          </a:p>
          <a:p>
            <a:pPr lvl="1"/>
            <a:r>
              <a:rPr lang="en-US" dirty="0"/>
              <a:t>Second Project: Mobile Test Station for </a:t>
            </a:r>
            <a:r>
              <a:rPr lang="en-US" dirty="0" err="1"/>
              <a:t>Dormakaba</a:t>
            </a:r>
            <a:endParaRPr lang="en-US" dirty="0"/>
          </a:p>
          <a:p>
            <a:pPr lvl="2"/>
            <a:r>
              <a:rPr lang="en-US" dirty="0"/>
              <a:t>Unsuccessful due to a lack of communication with assigned partner</a:t>
            </a:r>
          </a:p>
          <a:p>
            <a:pPr lvl="2"/>
            <a:r>
              <a:rPr lang="en-US" dirty="0"/>
              <a:t>Was unable to contact appropriate stakeholders</a:t>
            </a:r>
          </a:p>
          <a:p>
            <a:r>
              <a:rPr lang="en-US" dirty="0"/>
              <a:t>Will move forward with monitoring a home appliance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3CFB638-EDE3-0285-A171-697809C29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1B1298-8830-D597-B479-1CDEA3A263B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4275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520D36C-0EDB-E474-F49B-18F861B83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Project Description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B8282AB-8DA7-3692-E5E8-8723FB9AF125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Work that needs to be done</a:t>
            </a:r>
          </a:p>
          <a:p>
            <a:pPr lvl="1"/>
            <a:r>
              <a:rPr lang="en-US" dirty="0"/>
              <a:t>Develop appropriate mounts for the sensors onto the coffee maker</a:t>
            </a:r>
          </a:p>
          <a:p>
            <a:pPr lvl="1"/>
            <a:r>
              <a:rPr lang="en-US" dirty="0"/>
              <a:t>Write Python scripts to interface with the sensors and collect data</a:t>
            </a:r>
          </a:p>
          <a:p>
            <a:pPr lvl="1"/>
            <a:r>
              <a:rPr lang="en-US" dirty="0"/>
              <a:t>Develop Machine Learning models to detect when coffee is brewed</a:t>
            </a:r>
          </a:p>
          <a:p>
            <a:r>
              <a:rPr lang="en-US" dirty="0"/>
              <a:t>Technology and devices used</a:t>
            </a:r>
          </a:p>
          <a:p>
            <a:pPr lvl="1"/>
            <a:r>
              <a:rPr lang="en-US" dirty="0"/>
              <a:t>DS18B20 Thermocouple to monitor how hot the water tank gets while brewing coffee</a:t>
            </a:r>
          </a:p>
          <a:p>
            <a:pPr lvl="1"/>
            <a:r>
              <a:rPr lang="en-US" dirty="0"/>
              <a:t>ADXL345 Accelerometer to monitor the pumping of water from the water tank to the pot above the grounds</a:t>
            </a:r>
          </a:p>
          <a:p>
            <a:r>
              <a:rPr lang="en-US" dirty="0"/>
              <a:t>Problem that will be solved</a:t>
            </a:r>
          </a:p>
          <a:p>
            <a:pPr lvl="1"/>
            <a:r>
              <a:rPr lang="en-US" dirty="0"/>
              <a:t>Identifying when my coffee is done in case I walk away.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C027A107-CA43-BDC5-874E-2EDF9CB439A0}"/>
              </a:ext>
            </a:extLst>
          </p:cNvPr>
          <p:cNvPicPr>
            <a:picLocks noGrp="1" noChangeAspect="1"/>
          </p:cNvPicPr>
          <p:nvPr>
            <p:ph idx="13"/>
          </p:nvPr>
        </p:nvPicPr>
        <p:blipFill>
          <a:blip r:embed="rId2"/>
          <a:stretch>
            <a:fillRect/>
          </a:stretch>
        </p:blipFill>
        <p:spPr>
          <a:xfrm>
            <a:off x="6826250" y="1543050"/>
            <a:ext cx="4391025" cy="4391025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DFA9BEA-21E4-1AD3-D383-B0AF829468A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1378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1FA9442-79F9-D66A-8E07-CABD0C569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Target Audience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C522C95-E350-223C-FD5A-D0FA89DD40E3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600" i="1" dirty="0"/>
              <a:t>ME!</a:t>
            </a:r>
          </a:p>
          <a:p>
            <a:r>
              <a:rPr lang="en-US" dirty="0"/>
              <a:t>Anyone who loves coffee</a:t>
            </a:r>
          </a:p>
          <a:p>
            <a:pPr lvl="1"/>
            <a:r>
              <a:rPr lang="en-US" dirty="0"/>
              <a:t>And is super busy and prone to walking away while coffee is being brewed</a:t>
            </a:r>
          </a:p>
          <a:p>
            <a:r>
              <a:rPr lang="en-US" dirty="0"/>
              <a:t>Needs</a:t>
            </a:r>
          </a:p>
          <a:p>
            <a:pPr lvl="1"/>
            <a:r>
              <a:rPr lang="en-US" dirty="0"/>
              <a:t>A system to notify and monitor the status of a fresh batch of coffee</a:t>
            </a:r>
          </a:p>
          <a:p>
            <a:r>
              <a:rPr lang="en-US" dirty="0"/>
              <a:t>Background and expertise</a:t>
            </a:r>
          </a:p>
          <a:p>
            <a:pPr lvl="1"/>
            <a:r>
              <a:rPr lang="en-US" dirty="0"/>
              <a:t>Busy professional engineer and graduate student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494C99-B652-E5F5-51BE-30AABBB159F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272396E5-5A20-CAE5-F3CC-D082FEF08DCB}"/>
              </a:ext>
            </a:extLst>
          </p:cNvPr>
          <p:cNvPicPr>
            <a:picLocks noGrp="1" noChangeAspect="1"/>
          </p:cNvPicPr>
          <p:nvPr>
            <p:ph idx="13"/>
          </p:nvPr>
        </p:nvPicPr>
        <p:blipFill>
          <a:blip r:embed="rId2"/>
          <a:stretch>
            <a:fillRect/>
          </a:stretch>
        </p:blipFill>
        <p:spPr>
          <a:xfrm>
            <a:off x="7375128" y="1543050"/>
            <a:ext cx="3293268" cy="439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6287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B56B77C-10A1-C3EB-B14A-416617083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Roles and Responsibilities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FAAC99A-FEF2-C7F6-B353-DE25128937D7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Microelectronics Semiconductor Engineer working at Northrop Grumman</a:t>
            </a:r>
          </a:p>
          <a:p>
            <a:pPr lvl="1"/>
            <a:r>
              <a:rPr lang="en-US" dirty="0"/>
              <a:t>Day-to-day tasks as a full-stack software engineer</a:t>
            </a:r>
          </a:p>
          <a:p>
            <a:pPr lvl="2"/>
            <a:r>
              <a:rPr lang="en-US" dirty="0"/>
              <a:t>Developing frontend web applications using TypeScript and React</a:t>
            </a:r>
          </a:p>
          <a:p>
            <a:pPr lvl="2"/>
            <a:r>
              <a:rPr lang="en-US" dirty="0"/>
              <a:t>Developing backend APIs in Python using Flask or </a:t>
            </a:r>
            <a:r>
              <a:rPr lang="en-US" dirty="0" err="1"/>
              <a:t>FastAPI</a:t>
            </a:r>
            <a:r>
              <a:rPr lang="en-US" dirty="0"/>
              <a:t> frameworks</a:t>
            </a:r>
          </a:p>
          <a:p>
            <a:pPr lvl="2"/>
            <a:r>
              <a:rPr lang="en-US" dirty="0"/>
              <a:t>Networking with industrial automation sensors and devices catered for the Semiconductor Industry</a:t>
            </a:r>
          </a:p>
          <a:p>
            <a:r>
              <a:rPr lang="en-US" dirty="0"/>
              <a:t>Prior experience as a Mechanical Hardware Engineer</a:t>
            </a:r>
          </a:p>
          <a:p>
            <a:pPr lvl="1"/>
            <a:r>
              <a:rPr lang="en-US" dirty="0"/>
              <a:t>Performed structural analysis on components for use in undersea environments</a:t>
            </a:r>
          </a:p>
          <a:p>
            <a:pPr lvl="1"/>
            <a:r>
              <a:rPr lang="en-US" dirty="0"/>
              <a:t>Developed CAD models for electronic enclosures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F0D170F-CDE8-AC18-ED49-6DD0DBFA878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Expertise</a:t>
            </a:r>
          </a:p>
        </p:txBody>
      </p:sp>
      <p:pic>
        <p:nvPicPr>
          <p:cNvPr id="11" name="Content Placeholder 10" descr="A person in a suit and tie&#10;&#10;AI-generated content may be incorrect.">
            <a:extLst>
              <a:ext uri="{FF2B5EF4-FFF2-40B4-BE49-F238E27FC236}">
                <a16:creationId xmlns:a16="http://schemas.microsoft.com/office/drawing/2014/main" id="{9851F9AE-45C5-D6B5-B6E3-48B006333B5F}"/>
              </a:ext>
            </a:extLst>
          </p:cNvPr>
          <p:cNvPicPr>
            <a:picLocks noGrp="1" noChangeAspect="1"/>
          </p:cNvPicPr>
          <p:nvPr>
            <p:ph idx="13"/>
          </p:nvPr>
        </p:nvPicPr>
        <p:blipFill>
          <a:blip r:embed="rId2"/>
          <a:stretch>
            <a:fillRect/>
          </a:stretch>
        </p:blipFill>
        <p:spPr>
          <a:xfrm>
            <a:off x="6826250" y="1543050"/>
            <a:ext cx="4391025" cy="439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351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AE512C-1197-ADF0-6E3D-FBD4AE705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B4E6BFC-DBCE-FE9F-B304-4E383E5F1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Roles and Responsibilities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4375865-8B3B-835F-3CF6-16C4531B3A35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 will be handling the entirety of the project. I will be responsible for:</a:t>
            </a:r>
          </a:p>
          <a:p>
            <a:pPr lvl="1"/>
            <a:r>
              <a:rPr lang="en-US" dirty="0"/>
              <a:t>Acquiring appropriate mounts for the sensors</a:t>
            </a:r>
          </a:p>
          <a:p>
            <a:pPr lvl="2"/>
            <a:r>
              <a:rPr lang="en-US" dirty="0"/>
              <a:t>Designing in CAD and 3D printing if needed</a:t>
            </a:r>
          </a:p>
          <a:p>
            <a:pPr lvl="1"/>
            <a:r>
              <a:rPr lang="en-US" dirty="0"/>
              <a:t>Writing a Python script to read the data using </a:t>
            </a:r>
            <a:r>
              <a:rPr lang="en-US" dirty="0" err="1"/>
              <a:t>MTConnect</a:t>
            </a:r>
            <a:endParaRPr lang="en-US" dirty="0"/>
          </a:p>
          <a:p>
            <a:pPr lvl="1"/>
            <a:r>
              <a:rPr lang="en-US" dirty="0"/>
              <a:t>Developing a relational database schema using MySQL</a:t>
            </a:r>
          </a:p>
          <a:p>
            <a:pPr lvl="1"/>
            <a:r>
              <a:rPr lang="en-US" dirty="0"/>
              <a:t>Developing a user interface either in Grafana or a full web application using TypeScript/React</a:t>
            </a:r>
          </a:p>
          <a:p>
            <a:pPr lvl="1"/>
            <a:r>
              <a:rPr lang="en-US" dirty="0"/>
              <a:t>Developing machine learning models to notify when coffee is brewed</a:t>
            </a:r>
          </a:p>
          <a:p>
            <a:r>
              <a:rPr lang="en-US" dirty="0"/>
              <a:t>I will need support from the TA </a:t>
            </a:r>
            <a:r>
              <a:rPr lang="en-US" dirty="0" err="1"/>
              <a:t>Yuseop</a:t>
            </a:r>
            <a:r>
              <a:rPr lang="en-US" dirty="0"/>
              <a:t> Sim as a resource and mentor for this project</a:t>
            </a:r>
          </a:p>
          <a:p>
            <a:pPr lvl="1"/>
            <a:r>
              <a:rPr lang="en-US" dirty="0"/>
              <a:t>Acting in an advisory or consulting role</a:t>
            </a:r>
          </a:p>
          <a:p>
            <a:pPr lvl="1"/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E210182-FC1D-D3AE-8CEA-A555375CFA2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Responsibilities</a:t>
            </a:r>
          </a:p>
        </p:txBody>
      </p:sp>
      <p:pic>
        <p:nvPicPr>
          <p:cNvPr id="11" name="Content Placeholder 10" descr="A person in a suit and tie&#10;&#10;AI-generated content may be incorrect.">
            <a:extLst>
              <a:ext uri="{FF2B5EF4-FFF2-40B4-BE49-F238E27FC236}">
                <a16:creationId xmlns:a16="http://schemas.microsoft.com/office/drawing/2014/main" id="{6C61DA3A-4A98-68D4-0BAA-162DDBDBC530}"/>
              </a:ext>
            </a:extLst>
          </p:cNvPr>
          <p:cNvPicPr>
            <a:picLocks noGrp="1" noChangeAspect="1"/>
          </p:cNvPicPr>
          <p:nvPr>
            <p:ph idx="13"/>
          </p:nvPr>
        </p:nvPicPr>
        <p:blipFill>
          <a:blip r:embed="rId2"/>
          <a:stretch>
            <a:fillRect/>
          </a:stretch>
        </p:blipFill>
        <p:spPr>
          <a:xfrm>
            <a:off x="6826250" y="1543050"/>
            <a:ext cx="4391025" cy="439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4044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7DF2FA-63AF-E733-5E68-59903868ABA9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 dirty="0"/>
              <a:t>Will communicate on an as-need basis with the professor and TA using teams or outlook emails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A458754-5A12-47BD-68A4-2A7735B22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Communication Channels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B563F3-F271-B669-15BD-1C9EC8E3101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EB97E17-24B8-B4F9-70BF-A9E5811684E8}"/>
              </a:ext>
            </a:extLst>
          </p:cNvPr>
          <p:cNvGrpSpPr/>
          <p:nvPr/>
        </p:nvGrpSpPr>
        <p:grpSpPr>
          <a:xfrm>
            <a:off x="3309159" y="2673983"/>
            <a:ext cx="5573681" cy="2640693"/>
            <a:chOff x="3157567" y="2673983"/>
            <a:chExt cx="5573681" cy="2640693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BC423C0-2927-CF09-EFB3-C80AF0B957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57567" y="2673983"/>
              <a:ext cx="2640693" cy="2640693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4207ABCB-3A9A-9E04-A92C-E17BD34945B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0555" y="2673983"/>
              <a:ext cx="2640693" cy="264069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693121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B6021B-4C5E-CABF-CB27-A5E8B0A2A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5FE193-52D5-A655-D31C-2A65610BDAF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Software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56A878C8-9C5E-66C0-0213-4162E4C2857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/>
              <a:t>Frontend Development</a:t>
            </a:r>
          </a:p>
          <a:p>
            <a:r>
              <a:rPr lang="en-US" dirty="0"/>
              <a:t>Use TypeScript as the language</a:t>
            </a:r>
          </a:p>
          <a:p>
            <a:r>
              <a:rPr lang="en-US" dirty="0"/>
              <a:t>Web application using the React framework</a:t>
            </a:r>
          </a:p>
          <a:p>
            <a:r>
              <a:rPr lang="en-US" dirty="0"/>
              <a:t>Bundled using Vite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4BA158E-A21E-DD00-864F-F9ECD30FA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Resources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5889385A-79B1-85D0-9C7A-6F752C80E42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/>
              <a:t>Relational Database</a:t>
            </a:r>
          </a:p>
          <a:p>
            <a:r>
              <a:rPr lang="en-US" dirty="0"/>
              <a:t>Schema developed in MySQL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B01441F2-BDE9-A6E8-338A-22334EFDD8C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/>
              <a:t>Machine Learning Models</a:t>
            </a:r>
          </a:p>
          <a:p>
            <a:r>
              <a:rPr lang="en-US" dirty="0"/>
              <a:t>Models will be developed using TensorFlow</a:t>
            </a:r>
          </a:p>
          <a:p>
            <a:r>
              <a:rPr lang="en-US" dirty="0"/>
              <a:t>Will utilize </a:t>
            </a:r>
            <a:r>
              <a:rPr lang="en-US" dirty="0" err="1"/>
              <a:t>Jupyter</a:t>
            </a:r>
            <a:r>
              <a:rPr lang="en-US" dirty="0"/>
              <a:t> Notebooks for writing the algorithms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932D33E-56DF-596F-BD2D-954BAAD8E2F2}"/>
              </a:ext>
            </a:extLst>
          </p:cNvPr>
          <p:cNvGrpSpPr/>
          <p:nvPr/>
        </p:nvGrpSpPr>
        <p:grpSpPr>
          <a:xfrm>
            <a:off x="598711" y="2019015"/>
            <a:ext cx="3229679" cy="912259"/>
            <a:chOff x="1009098" y="4557467"/>
            <a:chExt cx="4177369" cy="1179945"/>
          </a:xfrm>
        </p:grpSpPr>
        <p:pic>
          <p:nvPicPr>
            <p:cNvPr id="11" name="Picture 10" descr="A blue and black symbol&#10;&#10;AI-generated content may be incorrect.">
              <a:extLst>
                <a:ext uri="{FF2B5EF4-FFF2-40B4-BE49-F238E27FC236}">
                  <a16:creationId xmlns:a16="http://schemas.microsoft.com/office/drawing/2014/main" id="{87B988D1-A235-D961-F91F-ABD299101A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09098" y="4557467"/>
              <a:ext cx="1179945" cy="1179945"/>
            </a:xfrm>
            <a:prstGeom prst="rect">
              <a:avLst/>
            </a:prstGeom>
          </p:spPr>
        </p:pic>
        <p:pic>
          <p:nvPicPr>
            <p:cNvPr id="13" name="Picture 12" descr="A blue square with white letters on it&#10;&#10;AI-generated content may be incorrect.">
              <a:extLst>
                <a:ext uri="{FF2B5EF4-FFF2-40B4-BE49-F238E27FC236}">
                  <a16:creationId xmlns:a16="http://schemas.microsoft.com/office/drawing/2014/main" id="{51B5121C-8267-D910-A008-8FE9E64BC4F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507810" y="4557467"/>
              <a:ext cx="1179945" cy="1179945"/>
            </a:xfrm>
            <a:prstGeom prst="rect">
              <a:avLst/>
            </a:prstGeom>
          </p:spPr>
        </p:pic>
        <p:pic>
          <p:nvPicPr>
            <p:cNvPr id="15" name="Picture 14" descr="A logo with lightning bolt in the middle&#10;&#10;AI-generated content may be incorrect.">
              <a:extLst>
                <a:ext uri="{FF2B5EF4-FFF2-40B4-BE49-F238E27FC236}">
                  <a16:creationId xmlns:a16="http://schemas.microsoft.com/office/drawing/2014/main" id="{20D6CB8B-705F-3752-9240-0A984BC2750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006522" y="4557467"/>
              <a:ext cx="1179945" cy="1179945"/>
            </a:xfrm>
            <a:prstGeom prst="rect">
              <a:avLst/>
            </a:prstGeom>
          </p:spPr>
        </p:pic>
      </p:grpSp>
      <p:pic>
        <p:nvPicPr>
          <p:cNvPr id="2052" name="Picture 4">
            <a:extLst>
              <a:ext uri="{FF2B5EF4-FFF2-40B4-BE49-F238E27FC236}">
                <a16:creationId xmlns:a16="http://schemas.microsoft.com/office/drawing/2014/main" id="{F5124CBE-FB25-FAFC-558C-5545425099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/>
          <a:srcRect/>
          <a:stretch/>
        </p:blipFill>
        <p:spPr bwMode="auto">
          <a:xfrm>
            <a:off x="5178963" y="1542162"/>
            <a:ext cx="1828469" cy="188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5DFDFF46-2AD4-630F-BCF7-30147A5E7344}"/>
              </a:ext>
            </a:extLst>
          </p:cNvPr>
          <p:cNvGrpSpPr/>
          <p:nvPr/>
        </p:nvGrpSpPr>
        <p:grpSpPr>
          <a:xfrm>
            <a:off x="8258003" y="1554339"/>
            <a:ext cx="3422564" cy="1885678"/>
            <a:chOff x="8205605" y="1586979"/>
            <a:chExt cx="3422564" cy="1885678"/>
          </a:xfrm>
        </p:grpSpPr>
        <p:pic>
          <p:nvPicPr>
            <p:cNvPr id="2054" name="Picture 6" descr="Tensorflow Logo Transparent, HD Png Download , Transparent Png Image ...">
              <a:extLst>
                <a:ext uri="{FF2B5EF4-FFF2-40B4-BE49-F238E27FC236}">
                  <a16:creationId xmlns:a16="http://schemas.microsoft.com/office/drawing/2014/main" id="{3AC40E4F-E9BC-E606-B980-7857A1819B6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/>
            <a:srcRect/>
            <a:stretch/>
          </p:blipFill>
          <p:spPr bwMode="auto">
            <a:xfrm>
              <a:off x="8205605" y="1588761"/>
              <a:ext cx="1689624" cy="18821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8" name="Picture 10" descr="AI/ML Series -&gt; Part 3 : Jupyter Notebooks">
              <a:extLst>
                <a:ext uri="{FF2B5EF4-FFF2-40B4-BE49-F238E27FC236}">
                  <a16:creationId xmlns:a16="http://schemas.microsoft.com/office/drawing/2014/main" id="{11ACD2FA-35E8-6F72-2797-3B5F371D713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000026" y="1586979"/>
              <a:ext cx="1628143" cy="18856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4644371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3C03A-7799-77EF-24C7-A8D28FF24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2138D7-A90F-DF5F-D3B6-5F45FA4B87B9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r>
              <a:rPr lang="en-US" dirty="0"/>
              <a:t>Utilize the sensors used in the labs for this project</a:t>
            </a:r>
          </a:p>
          <a:p>
            <a:pPr lvl="1"/>
            <a:r>
              <a:rPr lang="en-US" dirty="0"/>
              <a:t>ADXL345 Triple-Axis Accelerometer</a:t>
            </a:r>
          </a:p>
          <a:p>
            <a:pPr lvl="1"/>
            <a:r>
              <a:rPr lang="en-US" dirty="0"/>
              <a:t>DS18B20 Thermocouple</a:t>
            </a:r>
          </a:p>
          <a:p>
            <a:r>
              <a:rPr lang="en-US" dirty="0"/>
              <a:t>Utilize the Raspberry Pi used in the labs</a:t>
            </a:r>
          </a:p>
          <a:p>
            <a:pPr lvl="1"/>
            <a:r>
              <a:rPr lang="en-US" dirty="0"/>
              <a:t>Optionally can use a Raspberry Pi Zero that is already owned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27CE60-3F1D-8C2D-6F88-8A72F0ACAD7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Hardware</a:t>
            </a:r>
          </a:p>
        </p:txBody>
      </p:sp>
      <p:pic>
        <p:nvPicPr>
          <p:cNvPr id="6" name="Picture 2" descr="Temperature Sensor DS18B20 – Voltaat">
            <a:extLst>
              <a:ext uri="{FF2B5EF4-FFF2-40B4-BE49-F238E27FC236}">
                <a16:creationId xmlns:a16="http://schemas.microsoft.com/office/drawing/2014/main" id="{CC60F05C-1C12-127E-6E11-D7ED70314739}"/>
              </a:ext>
            </a:extLst>
          </p:cNvPr>
          <p:cNvPicPr>
            <a:picLocks noGrp="1" noChangeAspect="1" noChangeArrowheads="1"/>
          </p:cNvPicPr>
          <p:nvPr>
            <p:ph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09131" y="1889338"/>
            <a:ext cx="1637286" cy="1637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Triple Axis Accelerometer ADXL">
            <a:extLst>
              <a:ext uri="{FF2B5EF4-FFF2-40B4-BE49-F238E27FC236}">
                <a16:creationId xmlns:a16="http://schemas.microsoft.com/office/drawing/2014/main" id="{3174B4EF-C356-0AE8-7633-D545473041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88246" y="3738493"/>
            <a:ext cx="2279056" cy="2279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Official Raspberry Pi 4 Model B 8GB และชุดอุปกรณ์">
            <a:extLst>
              <a:ext uri="{FF2B5EF4-FFF2-40B4-BE49-F238E27FC236}">
                <a16:creationId xmlns:a16="http://schemas.microsoft.com/office/drawing/2014/main" id="{93B62EE8-9CD1-F97C-9F55-FD0519FC9E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9199" y="2558113"/>
            <a:ext cx="2508173" cy="2508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71243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C7FA1B-5535-CA62-8372-2DDF470ED648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 dirty="0"/>
              <a:t>Sensor Deployment – Week 11</a:t>
            </a:r>
          </a:p>
          <a:p>
            <a:pPr lvl="1"/>
            <a:r>
              <a:rPr lang="en-US" dirty="0"/>
              <a:t>Develop mounts to affix sensors to the coffee machine</a:t>
            </a:r>
          </a:p>
          <a:p>
            <a:pPr lvl="1"/>
            <a:r>
              <a:rPr lang="en-US" dirty="0"/>
              <a:t>Develop a database schema to parse data into</a:t>
            </a:r>
          </a:p>
          <a:p>
            <a:r>
              <a:rPr lang="en-US" dirty="0"/>
              <a:t>Frontend Development – Week 13</a:t>
            </a:r>
          </a:p>
          <a:p>
            <a:pPr lvl="1"/>
            <a:r>
              <a:rPr lang="en-US" dirty="0"/>
              <a:t>Develop a front-end application to track sensor readings in real-time</a:t>
            </a:r>
          </a:p>
          <a:p>
            <a:r>
              <a:rPr lang="en-US" dirty="0"/>
              <a:t>Machine learning modelling – Week 16</a:t>
            </a:r>
          </a:p>
          <a:p>
            <a:pPr lvl="1"/>
            <a:r>
              <a:rPr lang="en-US" dirty="0"/>
              <a:t>Develop a machine learning model</a:t>
            </a:r>
          </a:p>
          <a:p>
            <a:r>
              <a:rPr lang="en-US" dirty="0"/>
              <a:t>Automated notifications – Reach Goal</a:t>
            </a:r>
          </a:p>
          <a:p>
            <a:pPr lvl="1"/>
            <a:r>
              <a:rPr lang="en-US" dirty="0"/>
              <a:t>Assign email credentials to the monitoring system to send an email once coffee is brewed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5B2C82E-61E2-BF7C-1748-C6010D420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Tentative Tasks and Proposed Timeline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54B5DB-AC93-419C-B837-BBD1DBAF2C1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484617"/>
      </p:ext>
    </p:extLst>
  </p:cSld>
  <p:clrMapOvr>
    <a:masterClrMapping/>
  </p:clrMapOvr>
</p:sld>
</file>

<file path=ppt/theme/theme1.xml><?xml version="1.0" encoding="utf-8"?>
<a:theme xmlns:a="http://schemas.openxmlformats.org/drawingml/2006/main" name="MM-23-645083-Purdue-Brand-Widescreen-20231110">
  <a:themeElements>
    <a:clrScheme name="Custom 1">
      <a:dk1>
        <a:srgbClr val="000000"/>
      </a:dk1>
      <a:lt1>
        <a:srgbClr val="FEFFFF"/>
      </a:lt1>
      <a:dk2>
        <a:srgbClr val="55585F"/>
      </a:dk2>
      <a:lt2>
        <a:srgbClr val="CECACB"/>
      </a:lt2>
      <a:accent1>
        <a:srgbClr val="CFB891"/>
      </a:accent1>
      <a:accent2>
        <a:srgbClr val="555960"/>
      </a:accent2>
      <a:accent3>
        <a:srgbClr val="8D6F3D"/>
      </a:accent3>
      <a:accent4>
        <a:srgbClr val="FFFFFF"/>
      </a:accent4>
      <a:accent5>
        <a:srgbClr val="DAAA00"/>
      </a:accent5>
      <a:accent6>
        <a:srgbClr val="9D9694"/>
      </a:accent6>
      <a:hlink>
        <a:srgbClr val="000000"/>
      </a:hlink>
      <a:folHlink>
        <a:srgbClr val="FEFFFF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dk1">
            <a:shade val="50000"/>
          </a:schemeClr>
        </a:lnRef>
        <a:fillRef idx="1">
          <a:schemeClr val="dk1"/>
        </a:fillRef>
        <a:effectRef idx="0">
          <a:schemeClr val="dk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MM-23-645083-Purdue-Brand-Widescreen-20231110" id="{298B892F-2C42-8C4D-9C11-1897040FA823}" vid="{5A4260A0-2808-CB46-AD80-314349B89CB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MM-23-645083-Purdue-Brand-Widescreen-20231110</Template>
  <TotalTime>47</TotalTime>
  <Words>567</Words>
  <Application>Microsoft Office PowerPoint</Application>
  <PresentationFormat>Widescreen</PresentationFormat>
  <Paragraphs>79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0" baseType="lpstr">
      <vt:lpstr>Acumin Pro</vt:lpstr>
      <vt:lpstr>Acumin Pro Condensed Semibold</vt:lpstr>
      <vt:lpstr>Acumin Pro Medium</vt:lpstr>
      <vt:lpstr>Acumin Pro Semibold</vt:lpstr>
      <vt:lpstr>Arial</vt:lpstr>
      <vt:lpstr>Franklin Gothic Book</vt:lpstr>
      <vt:lpstr>Franklin Gothic Medium</vt:lpstr>
      <vt:lpstr>Franklin Gothic Medium Cond</vt:lpstr>
      <vt:lpstr>Wingdings</vt:lpstr>
      <vt:lpstr>MM-23-645083-Purdue-Brand-Widescreen-20231110</vt:lpstr>
      <vt:lpstr>Milestone 1 Presentation</vt:lpstr>
      <vt:lpstr>PowerPoint Presentation</vt:lpstr>
      <vt:lpstr>Project Description</vt:lpstr>
      <vt:lpstr>Target Audience</vt:lpstr>
      <vt:lpstr>Roles and Responsibilities</vt:lpstr>
      <vt:lpstr>Roles and Responsibilities</vt:lpstr>
      <vt:lpstr>Communication Channels</vt:lpstr>
      <vt:lpstr>Resources</vt:lpstr>
      <vt:lpstr>Resources</vt:lpstr>
      <vt:lpstr>Tentative Tasks and Proposed Timeline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Robert Daniel Claud</dc:creator>
  <cp:lastModifiedBy>Robert Daniel Claud</cp:lastModifiedBy>
  <cp:revision>1</cp:revision>
  <dcterms:created xsi:type="dcterms:W3CDTF">2026-03-13T04:48:33Z</dcterms:created>
  <dcterms:modified xsi:type="dcterms:W3CDTF">2026-03-13T05:35:37Z</dcterms:modified>
</cp:coreProperties>
</file>