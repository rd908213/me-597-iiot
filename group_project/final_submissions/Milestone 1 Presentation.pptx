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59" r:id="rId4"/>
    <p:sldId id="260" r:id="rId5"/>
    <p:sldId id="261" r:id="rId6"/>
    <p:sldId id="266" r:id="rId7"/>
    <p:sldId id="262" r:id="rId8"/>
    <p:sldId id="267" r:id="rId9"/>
    <p:sldId id="26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aniel Claud" userId="514cc7bb-9c1b-4bea-a0cc-f8044cfde9ad" providerId="ADAL" clId="{1C5A192F-8324-49E1-BC91-E85EDF1E0865}"/>
    <pc:docChg chg="modSld">
      <pc:chgData name="Robert Daniel Claud" userId="514cc7bb-9c1b-4bea-a0cc-f8044cfde9ad" providerId="ADAL" clId="{1C5A192F-8324-49E1-BC91-E85EDF1E0865}" dt="2026-03-13T22:10:23.062" v="17" actId="20577"/>
      <pc:docMkLst>
        <pc:docMk/>
      </pc:docMkLst>
      <pc:sldChg chg="modSp mod">
        <pc:chgData name="Robert Daniel Claud" userId="514cc7bb-9c1b-4bea-a0cc-f8044cfde9ad" providerId="ADAL" clId="{1C5A192F-8324-49E1-BC91-E85EDF1E0865}" dt="2026-03-13T22:10:23.062" v="17" actId="20577"/>
        <pc:sldMkLst>
          <pc:docMk/>
          <pc:sldMk cId="2866427594" sldId="265"/>
        </pc:sldMkLst>
        <pc:spChg chg="mod">
          <ac:chgData name="Robert Daniel Claud" userId="514cc7bb-9c1b-4bea-a0cc-f8044cfde9ad" providerId="ADAL" clId="{1C5A192F-8324-49E1-BC91-E85EDF1E0865}" dt="2026-03-13T22:10:23.062" v="17" actId="20577"/>
          <ac:spMkLst>
            <pc:docMk/>
            <pc:sldMk cId="2866427594" sldId="265"/>
            <ac:spMk id="3" creationId="{C3CFB638-EDE3-0285-A171-697809C29F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0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624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30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4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00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79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00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7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02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4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9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99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47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00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1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6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706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63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922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02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2330944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5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598-DE3D-F395-38BF-9CE0B5C1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1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63DBC-4ACB-FFB9-2A72-9034E33F2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Robert Claud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AA387-456D-DD66-42A4-65B06B05A1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7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2ABD60-7B97-FCBC-C98C-E640E5F2626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Started this project after two failed attempts at other projects with companies</a:t>
            </a:r>
          </a:p>
          <a:p>
            <a:pPr lvl="1"/>
            <a:r>
              <a:rPr lang="en-US" dirty="0"/>
              <a:t>First Project: Particle Monitoring System for Northrop Grumman</a:t>
            </a:r>
          </a:p>
          <a:p>
            <a:pPr lvl="2"/>
            <a:r>
              <a:rPr lang="en-US" dirty="0"/>
              <a:t>Unsuccessful due to cybersecurity policies related to working in the defense industry</a:t>
            </a:r>
          </a:p>
          <a:p>
            <a:pPr lvl="2"/>
            <a:r>
              <a:rPr lang="en-US" dirty="0"/>
              <a:t>The timeline for this class was not long enough to account for sufficient cybersecurity review and approval by the company</a:t>
            </a:r>
          </a:p>
          <a:p>
            <a:pPr lvl="1"/>
            <a:r>
              <a:rPr lang="en-US" dirty="0"/>
              <a:t>Second Project: Mobile Test Station for </a:t>
            </a:r>
            <a:r>
              <a:rPr lang="en-US" dirty="0" err="1"/>
              <a:t>Dormakaba</a:t>
            </a:r>
            <a:endParaRPr lang="en-US" dirty="0"/>
          </a:p>
          <a:p>
            <a:pPr lvl="2"/>
            <a:r>
              <a:rPr lang="en-US" dirty="0"/>
              <a:t>Unsuccessful due to a lack of communication with assigned partner</a:t>
            </a:r>
          </a:p>
          <a:p>
            <a:pPr lvl="2"/>
            <a:r>
              <a:rPr lang="en-US" dirty="0"/>
              <a:t>Was unable to contact appropriate stakeholders</a:t>
            </a:r>
          </a:p>
          <a:p>
            <a:r>
              <a:rPr lang="en-US" dirty="0"/>
              <a:t>Will move forward with monitoring a home appliance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CFB638-EDE3-0285-A171-697809C2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 Initiation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B1298-8830-D597-B479-1CDEA3A263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0D36C-0EDB-E474-F49B-18F861B83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Description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8282AB-8DA7-3692-E5E8-8723FB9AF12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Work that needs to be done</a:t>
            </a:r>
          </a:p>
          <a:p>
            <a:pPr lvl="1"/>
            <a:r>
              <a:rPr lang="en-US" dirty="0"/>
              <a:t>Develop appropriate mounts for the sensors onto the coffee maker</a:t>
            </a:r>
          </a:p>
          <a:p>
            <a:pPr lvl="1"/>
            <a:r>
              <a:rPr lang="en-US" dirty="0"/>
              <a:t>Write Python scripts to interface with the sensors and collect data</a:t>
            </a:r>
          </a:p>
          <a:p>
            <a:pPr lvl="1"/>
            <a:r>
              <a:rPr lang="en-US" dirty="0"/>
              <a:t>Develop Machine Learning models to detect when coffee is brewed</a:t>
            </a:r>
          </a:p>
          <a:p>
            <a:r>
              <a:rPr lang="en-US" dirty="0"/>
              <a:t>Technology and devices used</a:t>
            </a:r>
          </a:p>
          <a:p>
            <a:pPr lvl="1"/>
            <a:r>
              <a:rPr lang="en-US" dirty="0"/>
              <a:t>DS18B20 Thermocouple to monitor how hot the water tank gets while brewing coffee</a:t>
            </a:r>
          </a:p>
          <a:p>
            <a:pPr lvl="1"/>
            <a:r>
              <a:rPr lang="en-US" dirty="0"/>
              <a:t>ADXL345 Accelerometer to monitor the pumping of water from the water tank to the pot above the grounds</a:t>
            </a:r>
          </a:p>
          <a:p>
            <a:r>
              <a:rPr lang="en-US" dirty="0"/>
              <a:t>Problem that will be solved</a:t>
            </a:r>
          </a:p>
          <a:p>
            <a:pPr lvl="1"/>
            <a:r>
              <a:rPr lang="en-US" dirty="0"/>
              <a:t>Identifying when my coffee is done in case I walk away.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27A107-CA43-BDC5-874E-2EDF9CB439A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FA9BEA-21E4-1AD3-D383-B0AF829468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3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A9442-79F9-D66A-8E07-CABD0C5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 Audience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522C95-E350-223C-FD5A-D0FA89DD40E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i="1" dirty="0"/>
              <a:t>ME!</a:t>
            </a:r>
          </a:p>
          <a:p>
            <a:r>
              <a:rPr lang="en-US" dirty="0"/>
              <a:t>Anyone who loves coffee</a:t>
            </a:r>
          </a:p>
          <a:p>
            <a:pPr lvl="1"/>
            <a:r>
              <a:rPr lang="en-US" dirty="0"/>
              <a:t>And is super busy and prone to walking away while coffee is being brewed</a:t>
            </a:r>
          </a:p>
          <a:p>
            <a:r>
              <a:rPr lang="en-US" dirty="0"/>
              <a:t>Needs</a:t>
            </a:r>
          </a:p>
          <a:p>
            <a:pPr lvl="1"/>
            <a:r>
              <a:rPr lang="en-US" dirty="0"/>
              <a:t>A system to notify and monitor the status of a fresh batch of coffee</a:t>
            </a:r>
          </a:p>
          <a:p>
            <a:r>
              <a:rPr lang="en-US" dirty="0"/>
              <a:t>Background and expertise</a:t>
            </a:r>
          </a:p>
          <a:p>
            <a:pPr lvl="1"/>
            <a:r>
              <a:rPr lang="en-US" dirty="0"/>
              <a:t>Busy professional engineer and graduate student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94C99-B652-E5F5-51BE-30AABBB159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2396E5-5A20-CAE5-F3CC-D082FEF08DC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7375128" y="1543050"/>
            <a:ext cx="3293268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2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56B77C-10A1-C3EB-B14A-41661708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Roles and Responsibilities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AAC99A-FEF2-C7F6-B353-DE25128937D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Microelectronics Semiconductor Engineer working at Northrop Grumman</a:t>
            </a:r>
          </a:p>
          <a:p>
            <a:pPr lvl="1"/>
            <a:r>
              <a:rPr lang="en-US" dirty="0"/>
              <a:t>Day-to-day tasks as a full-stack software engineer</a:t>
            </a:r>
          </a:p>
          <a:p>
            <a:pPr lvl="2"/>
            <a:r>
              <a:rPr lang="en-US" dirty="0"/>
              <a:t>Developing frontend web applications using TypeScript and React</a:t>
            </a:r>
          </a:p>
          <a:p>
            <a:pPr lvl="2"/>
            <a:r>
              <a:rPr lang="en-US" dirty="0"/>
              <a:t>Developing backend APIs in Python using Flask or </a:t>
            </a:r>
            <a:r>
              <a:rPr lang="en-US" dirty="0" err="1"/>
              <a:t>FastAPI</a:t>
            </a:r>
            <a:r>
              <a:rPr lang="en-US" dirty="0"/>
              <a:t> frameworks</a:t>
            </a:r>
          </a:p>
          <a:p>
            <a:pPr lvl="2"/>
            <a:r>
              <a:rPr lang="en-US" dirty="0"/>
              <a:t>Networking with industrial automation sensors and devices catered for the Semiconductor Industry</a:t>
            </a:r>
          </a:p>
          <a:p>
            <a:r>
              <a:rPr lang="en-US" dirty="0"/>
              <a:t>Prior experience as a Mechanical Hardware Engineer</a:t>
            </a:r>
          </a:p>
          <a:p>
            <a:pPr lvl="1"/>
            <a:r>
              <a:rPr lang="en-US" dirty="0"/>
              <a:t>Performed structural analysis on components for use in undersea environments</a:t>
            </a:r>
          </a:p>
          <a:p>
            <a:pPr lvl="1"/>
            <a:r>
              <a:rPr lang="en-US" dirty="0"/>
              <a:t>Developed CAD models for electronic enclosures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0D170F-CDE8-AC18-ED49-6DD0DBFA87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Expertise</a:t>
            </a:r>
          </a:p>
        </p:txBody>
      </p:sp>
      <p:pic>
        <p:nvPicPr>
          <p:cNvPr id="11" name="Content Placeholder 1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9851F9AE-45C5-D6B5-B6E3-48B006333B5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512C-1197-ADF0-6E3D-FBD4AE70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4E6BFC-DBCE-FE9F-B304-4E383E5F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Roles and Responsibilities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375865-8B3B-835F-3CF6-16C4531B3A3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will be handling the entirety of the project. I will be responsible for:</a:t>
            </a:r>
          </a:p>
          <a:p>
            <a:pPr lvl="1"/>
            <a:r>
              <a:rPr lang="en-US" dirty="0"/>
              <a:t>Acquiring appropriate mounts for the sensors</a:t>
            </a:r>
          </a:p>
          <a:p>
            <a:pPr lvl="2"/>
            <a:r>
              <a:rPr lang="en-US" dirty="0"/>
              <a:t>Designing in CAD and 3D printing if needed</a:t>
            </a:r>
          </a:p>
          <a:p>
            <a:pPr lvl="1"/>
            <a:r>
              <a:rPr lang="en-US" dirty="0"/>
              <a:t>Writing a Python script to read the data using </a:t>
            </a:r>
            <a:r>
              <a:rPr lang="en-US" dirty="0" err="1"/>
              <a:t>MTConnect</a:t>
            </a:r>
            <a:endParaRPr lang="en-US" dirty="0"/>
          </a:p>
          <a:p>
            <a:pPr lvl="1"/>
            <a:r>
              <a:rPr lang="en-US" dirty="0"/>
              <a:t>Developing a relational database schema using MySQL</a:t>
            </a:r>
          </a:p>
          <a:p>
            <a:pPr lvl="1"/>
            <a:r>
              <a:rPr lang="en-US" dirty="0"/>
              <a:t>Developing a user interface either in Grafana or a full web application using TypeScript/React</a:t>
            </a:r>
          </a:p>
          <a:p>
            <a:pPr lvl="1"/>
            <a:r>
              <a:rPr lang="en-US" dirty="0"/>
              <a:t>Developing machine learning models to notify when coffee is brewed</a:t>
            </a:r>
          </a:p>
          <a:p>
            <a:r>
              <a:rPr lang="en-US" dirty="0"/>
              <a:t>I will need support from the TA </a:t>
            </a:r>
            <a:r>
              <a:rPr lang="en-US" dirty="0" err="1"/>
              <a:t>Yuseop</a:t>
            </a:r>
            <a:r>
              <a:rPr lang="en-US" dirty="0"/>
              <a:t> Sim as a resource and mentor for this project</a:t>
            </a:r>
          </a:p>
          <a:p>
            <a:pPr lvl="1"/>
            <a:r>
              <a:rPr lang="en-US" dirty="0"/>
              <a:t>Acting in an advisory or consulting role</a:t>
            </a:r>
          </a:p>
          <a:p>
            <a:pPr lvl="1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210182-FC1D-D3AE-8CEA-A555375CFA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</p:txBody>
      </p:sp>
      <p:pic>
        <p:nvPicPr>
          <p:cNvPr id="11" name="Content Placeholder 1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C61DA3A-4A98-68D4-0BAA-162DDBDBC53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0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DF2FA-63AF-E733-5E68-59903868ABA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Will communicate on an as-need basis with the professor and TA using teams or outlook emails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458754-5A12-47BD-68A4-2A7735B2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 Channels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563F3-F271-B669-15BD-1C9EC8E310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B97E17-24B8-B4F9-70BF-A9E5811684E8}"/>
              </a:ext>
            </a:extLst>
          </p:cNvPr>
          <p:cNvGrpSpPr/>
          <p:nvPr/>
        </p:nvGrpSpPr>
        <p:grpSpPr>
          <a:xfrm>
            <a:off x="3309159" y="2673983"/>
            <a:ext cx="5573681" cy="2640693"/>
            <a:chOff x="3157567" y="2673983"/>
            <a:chExt cx="5573681" cy="264069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C423C0-2927-CF09-EFB3-C80AF0B95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7567" y="2673983"/>
              <a:ext cx="2640693" cy="264069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207ABCB-3A9A-9E04-A92C-E17BD3494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555" y="2673983"/>
              <a:ext cx="2640693" cy="2640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931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021B-4C5E-CABF-CB27-A5E8B0A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FE193-52D5-A655-D31C-2A65610BDA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Software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6A878C8-9C5E-66C0-0213-4162E4C285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Frontend Development</a:t>
            </a:r>
          </a:p>
          <a:p>
            <a:r>
              <a:rPr lang="en-US" dirty="0"/>
              <a:t>Use TypeScript as the language</a:t>
            </a:r>
          </a:p>
          <a:p>
            <a:r>
              <a:rPr lang="en-US" dirty="0"/>
              <a:t>Web application using the React framework</a:t>
            </a:r>
          </a:p>
          <a:p>
            <a:r>
              <a:rPr lang="en-US" dirty="0"/>
              <a:t>Bundled using Vite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BA158E-A21E-DD00-864F-F9ECD30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889385A-79B1-85D0-9C7A-6F752C80E4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Relational Database</a:t>
            </a:r>
          </a:p>
          <a:p>
            <a:r>
              <a:rPr lang="en-US" dirty="0"/>
              <a:t>Schema developed in MySQL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01441F2-BDE9-A6E8-338A-22334EFDD8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Machine Learning Models</a:t>
            </a:r>
          </a:p>
          <a:p>
            <a:r>
              <a:rPr lang="en-US" dirty="0"/>
              <a:t>Models will be developed using TensorFlow</a:t>
            </a:r>
          </a:p>
          <a:p>
            <a:r>
              <a:rPr lang="en-US" dirty="0"/>
              <a:t>Will utilize </a:t>
            </a:r>
            <a:r>
              <a:rPr lang="en-US" dirty="0" err="1"/>
              <a:t>Jupyter</a:t>
            </a:r>
            <a:r>
              <a:rPr lang="en-US" dirty="0"/>
              <a:t> Notebooks for writing the algorithms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32D33E-56DF-596F-BD2D-954BAAD8E2F2}"/>
              </a:ext>
            </a:extLst>
          </p:cNvPr>
          <p:cNvGrpSpPr/>
          <p:nvPr/>
        </p:nvGrpSpPr>
        <p:grpSpPr>
          <a:xfrm>
            <a:off x="598711" y="2019015"/>
            <a:ext cx="3229679" cy="912259"/>
            <a:chOff x="1009098" y="4557467"/>
            <a:chExt cx="4177369" cy="1179945"/>
          </a:xfrm>
        </p:grpSpPr>
        <p:pic>
          <p:nvPicPr>
            <p:cNvPr id="11" name="Picture 10" descr="A blue and black symbol&#10;&#10;AI-generated content may be incorrect.">
              <a:extLst>
                <a:ext uri="{FF2B5EF4-FFF2-40B4-BE49-F238E27FC236}">
                  <a16:creationId xmlns:a16="http://schemas.microsoft.com/office/drawing/2014/main" id="{87B988D1-A235-D961-F91F-ABD299101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9098" y="4557467"/>
              <a:ext cx="1179945" cy="1179945"/>
            </a:xfrm>
            <a:prstGeom prst="rect">
              <a:avLst/>
            </a:prstGeom>
          </p:spPr>
        </p:pic>
        <p:pic>
          <p:nvPicPr>
            <p:cNvPr id="13" name="Picture 12" descr="A blue square with white letters on it&#10;&#10;AI-generated content may be incorrect.">
              <a:extLst>
                <a:ext uri="{FF2B5EF4-FFF2-40B4-BE49-F238E27FC236}">
                  <a16:creationId xmlns:a16="http://schemas.microsoft.com/office/drawing/2014/main" id="{51B5121C-8267-D910-A008-8FE9E64BC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7810" y="4557467"/>
              <a:ext cx="1179945" cy="1179945"/>
            </a:xfrm>
            <a:prstGeom prst="rect">
              <a:avLst/>
            </a:prstGeom>
          </p:spPr>
        </p:pic>
        <p:pic>
          <p:nvPicPr>
            <p:cNvPr id="15" name="Picture 14" descr="A logo with lightning bolt in the middle&#10;&#10;AI-generated content may be incorrect.">
              <a:extLst>
                <a:ext uri="{FF2B5EF4-FFF2-40B4-BE49-F238E27FC236}">
                  <a16:creationId xmlns:a16="http://schemas.microsoft.com/office/drawing/2014/main" id="{20D6CB8B-705F-3752-9240-0A984BC27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6522" y="4557467"/>
              <a:ext cx="1179945" cy="1179945"/>
            </a:xfrm>
            <a:prstGeom prst="rect">
              <a:avLst/>
            </a:prstGeom>
          </p:spPr>
        </p:pic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124CBE-FB25-FAFC-558C-554542509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5178963" y="1542162"/>
            <a:ext cx="1828469" cy="18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DFDFF46-2AD4-630F-BCF7-30147A5E7344}"/>
              </a:ext>
            </a:extLst>
          </p:cNvPr>
          <p:cNvGrpSpPr/>
          <p:nvPr/>
        </p:nvGrpSpPr>
        <p:grpSpPr>
          <a:xfrm>
            <a:off x="8258003" y="1554339"/>
            <a:ext cx="3422564" cy="1885678"/>
            <a:chOff x="8205605" y="1586979"/>
            <a:chExt cx="3422564" cy="1885678"/>
          </a:xfrm>
        </p:grpSpPr>
        <p:pic>
          <p:nvPicPr>
            <p:cNvPr id="2054" name="Picture 6" descr="Tensorflow Logo Transparent, HD Png Download , Transparent Png Image ...">
              <a:extLst>
                <a:ext uri="{FF2B5EF4-FFF2-40B4-BE49-F238E27FC236}">
                  <a16:creationId xmlns:a16="http://schemas.microsoft.com/office/drawing/2014/main" id="{3AC40E4F-E9BC-E606-B980-7857A1819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8205605" y="1588761"/>
              <a:ext cx="1689624" cy="1882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AI/ML Series -&gt; Part 3 : Jupyter Notebooks">
              <a:extLst>
                <a:ext uri="{FF2B5EF4-FFF2-40B4-BE49-F238E27FC236}">
                  <a16:creationId xmlns:a16="http://schemas.microsoft.com/office/drawing/2014/main" id="{11ACD2FA-35E8-6F72-2797-3B5F371D71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026" y="1586979"/>
              <a:ext cx="1628143" cy="1885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6443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C03A-7799-77EF-24C7-A8D28FF2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38D7-A90F-DF5F-D3B6-5F45FA4B87B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Utilize the sensors used in the labs for this project</a:t>
            </a:r>
          </a:p>
          <a:p>
            <a:pPr lvl="1"/>
            <a:r>
              <a:rPr lang="en-US" dirty="0"/>
              <a:t>ADXL345 Triple-Axis Accelerometer</a:t>
            </a:r>
          </a:p>
          <a:p>
            <a:pPr lvl="1"/>
            <a:r>
              <a:rPr lang="en-US" dirty="0"/>
              <a:t>DS18B20 Thermocouple</a:t>
            </a:r>
          </a:p>
          <a:p>
            <a:r>
              <a:rPr lang="en-US" dirty="0"/>
              <a:t>Utilize the Raspberry Pi used in the labs</a:t>
            </a:r>
          </a:p>
          <a:p>
            <a:pPr lvl="1"/>
            <a:r>
              <a:rPr lang="en-US" dirty="0"/>
              <a:t>Optionally can use a Raspberry Pi Zero that is already owned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7CE60-3F1D-8C2D-6F88-8A72F0ACA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pic>
        <p:nvPicPr>
          <p:cNvPr id="6" name="Picture 2" descr="Temperature Sensor DS18B20 – Voltaat">
            <a:extLst>
              <a:ext uri="{FF2B5EF4-FFF2-40B4-BE49-F238E27FC236}">
                <a16:creationId xmlns:a16="http://schemas.microsoft.com/office/drawing/2014/main" id="{CC60F05C-1C12-127E-6E11-D7ED70314739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31" y="1889338"/>
            <a:ext cx="1637286" cy="16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riple Axis Accelerometer ADXL">
            <a:extLst>
              <a:ext uri="{FF2B5EF4-FFF2-40B4-BE49-F238E27FC236}">
                <a16:creationId xmlns:a16="http://schemas.microsoft.com/office/drawing/2014/main" id="{3174B4EF-C356-0AE8-7633-D5454730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246" y="3738493"/>
            <a:ext cx="2279056" cy="227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fficial Raspberry Pi 4 Model B 8GB และชุดอุปกรณ์">
            <a:extLst>
              <a:ext uri="{FF2B5EF4-FFF2-40B4-BE49-F238E27FC236}">
                <a16:creationId xmlns:a16="http://schemas.microsoft.com/office/drawing/2014/main" id="{93B62EE8-9CD1-F97C-9F55-FD0519FC9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199" y="2558113"/>
            <a:ext cx="2508173" cy="250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12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7FA1B-5535-CA62-8372-2DDF470ED64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Sensor Deployment – Week 11</a:t>
            </a:r>
          </a:p>
          <a:p>
            <a:pPr lvl="1"/>
            <a:r>
              <a:rPr lang="en-US" dirty="0"/>
              <a:t>Develop mounts to affix sensors to the coffee machine</a:t>
            </a:r>
          </a:p>
          <a:p>
            <a:pPr lvl="1"/>
            <a:r>
              <a:rPr lang="en-US" dirty="0"/>
              <a:t>Develop a database schema to parse data into</a:t>
            </a:r>
          </a:p>
          <a:p>
            <a:r>
              <a:rPr lang="en-US" dirty="0"/>
              <a:t>Frontend Development – Week 13</a:t>
            </a:r>
          </a:p>
          <a:p>
            <a:pPr lvl="1"/>
            <a:r>
              <a:rPr lang="en-US" dirty="0"/>
              <a:t>Develop a front-end application to track sensor readings in real-time</a:t>
            </a:r>
          </a:p>
          <a:p>
            <a:r>
              <a:rPr lang="en-US" dirty="0"/>
              <a:t>Machine learning modelling – Week 16</a:t>
            </a:r>
          </a:p>
          <a:p>
            <a:pPr lvl="1"/>
            <a:r>
              <a:rPr lang="en-US" dirty="0"/>
              <a:t>Develop a machine learning model</a:t>
            </a:r>
          </a:p>
          <a:p>
            <a:r>
              <a:rPr lang="en-US" dirty="0"/>
              <a:t>Automated notifications – Reach Goal</a:t>
            </a:r>
          </a:p>
          <a:p>
            <a:pPr lvl="1"/>
            <a:r>
              <a:rPr lang="en-US" dirty="0"/>
              <a:t>Assign email credentials to the monitoring system to send an email once coffee is brewed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B2C82E-61E2-BF7C-1748-C6010D42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Tentative Tasks and Proposed Timeline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4B5DB-AC93-419C-B837-BBD1DBAF2C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84617"/>
      </p:ext>
    </p:extLst>
  </p:cSld>
  <p:clrMapOvr>
    <a:masterClrMapping/>
  </p:clrMapOvr>
</p:sld>
</file>

<file path=ppt/theme/theme1.xml><?xml version="1.0" encoding="utf-8"?>
<a:theme xmlns:a="http://schemas.openxmlformats.org/drawingml/2006/main" name="MM-23-645083-Purdue-Brand-Widescreen-20231110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MM-23-645083-Purdue-Brand-Widescreen-20231110</Template>
  <TotalTime>60</TotalTime>
  <Words>569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Acumin Pro</vt:lpstr>
      <vt:lpstr>Acumin Pro Condensed Semibold</vt:lpstr>
      <vt:lpstr>Acumin Pro Medium</vt:lpstr>
      <vt:lpstr>Acumin Pro Semibold</vt:lpstr>
      <vt:lpstr>Arial</vt:lpstr>
      <vt:lpstr>Franklin Gothic Book</vt:lpstr>
      <vt:lpstr>Franklin Gothic Medium</vt:lpstr>
      <vt:lpstr>Franklin Gothic Medium Cond</vt:lpstr>
      <vt:lpstr>Wingdings</vt:lpstr>
      <vt:lpstr>MM-23-645083-Purdue-Brand-Widescreen-20231110</vt:lpstr>
      <vt:lpstr>Milestone 1 Presentation</vt:lpstr>
      <vt:lpstr>Project Initiation</vt:lpstr>
      <vt:lpstr>Project Description</vt:lpstr>
      <vt:lpstr>Target Audience</vt:lpstr>
      <vt:lpstr>Roles and Responsibilities</vt:lpstr>
      <vt:lpstr>Roles and Responsibilities</vt:lpstr>
      <vt:lpstr>Communication Channels</vt:lpstr>
      <vt:lpstr>Resources</vt:lpstr>
      <vt:lpstr>Resources</vt:lpstr>
      <vt:lpstr>Tentative Tasks and Proposed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Daniel Claud</dc:creator>
  <cp:lastModifiedBy>Robert Daniel Claud</cp:lastModifiedBy>
  <cp:revision>1</cp:revision>
  <dcterms:created xsi:type="dcterms:W3CDTF">2026-03-13T04:48:33Z</dcterms:created>
  <dcterms:modified xsi:type="dcterms:W3CDTF">2026-03-13T22:10:29Z</dcterms:modified>
</cp:coreProperties>
</file>